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of Proto (Hie et al., bioRxiv 2026), then how it connects to and advances our biosecurity-evaluation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 is a 'programming language for biology': it unifies non-interoperable AI tools into one grammar of four blocks - Sequences, Generators (propose), Constraints (score), Optimizers (improve). Optimizes several goals at once; validated on protein-DNA design and cell-type-specific splicing. 'Constraints' is our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question: can small realistic edits fool AI biosecurity filters, and does fooling = real threat? We measure two things: bioplausibility (looks natural) and functional viability (still works). RQ1 evasion rate; RQ2 which constraints matter; RQ3 model-size/architecture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method in one slide. Develop: the key design choice is MULTIPLY not average - a protein works only if produced AND folds AND keeps its active site, so one failure zeroes the score (an averaging metric would wrongly forgive a destroyed active site). Test: score thousands of real variants from public deep-mutational-scanning data. Evaluate: across real toxins, a virus, and an enzyme, using AUC against true lab-measured function (0.5 random, 1.0 perfect). Result: 0.73 mean and 0.61 worst-case AUC across six datasets, beating the language model alone. Why robust enough: it fuses complementary signals, auto-down-weights ones that are unreliable or irrelevant for a given molecule, ensembles across model sizes, and is cross-validated; it leads every single ingredient on both average and worst case, which is exactly what lets it apply across different molecule classes. Plain plausibility alone was ~0.49 (useless) - the structural, multiplicative design is what carries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already IS Proto's loop: mutation proposer = Generator, our metric = Constraint, GA/MCMC = Optimizer. Why it matters: Wittmann et al. (Science 2025) showed real synthesis screening can be evaded and the fix targets variants that still function - functional retention is the criterion, which our metric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Adoption: (1) wrap our metric as a Proto Constraint; (2) run multi-objective search for edits that are evasive AND plausible AND still functional; (3) same Constraint for attack and defense. Honest status: preliminary, on safe stand-in proteins, ESM proxy currently standing in for RaSP.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627632"/>
            <a:ext cx="146304" cy="146304"/>
          </a:xfrm>
          <a:prstGeom prst="rect">
            <a:avLst/>
          </a:prstGeom>
          <a:solidFill>
            <a:srgbClr val="0E8C7F"/>
          </a:solidFill>
          <a:ln/>
        </p:spPr>
      </p:sp>
      <p:sp>
        <p:nvSpPr>
          <p:cNvPr id="3" name="Text 1"/>
          <p:cNvSpPr/>
          <p:nvPr/>
        </p:nvSpPr>
        <p:spPr>
          <a:xfrm>
            <a:off x="1188720" y="1554480"/>
            <a:ext cx="7315200" cy="320040"/>
          </a:xfrm>
          <a:prstGeom prst="rect">
            <a:avLst/>
          </a:prstGeom>
          <a:noFill/>
          <a:ln/>
        </p:spPr>
        <p:txBody>
          <a:bodyPr wrap="square" lIns="0" tIns="0" rIns="0" bIns="0" rtlCol="0" anchor="ctr"/>
          <a:lstStyle/>
          <a:p>
            <a:pPr indent="0" marL="0">
              <a:buNone/>
            </a:pPr>
            <a:r>
              <a:rPr lang="en-US" sz="1400" b="1" spc="400" kern="0" dirty="0">
                <a:solidFill>
                  <a:srgbClr val="0E8C7F"/>
                </a:solidFill>
                <a:latin typeface="Arial" pitchFamily="34" charset="0"/>
                <a:ea typeface="Arial" pitchFamily="34" charset="-122"/>
                <a:cs typeface="Arial" pitchFamily="34" charset="-120"/>
              </a:rPr>
              <a:t>PROTO</a:t>
            </a:r>
            <a:endParaRPr lang="en-US" sz="1400" dirty="0"/>
          </a:p>
        </p:txBody>
      </p:sp>
      <p:sp>
        <p:nvSpPr>
          <p:cNvPr id="4" name="Text 2"/>
          <p:cNvSpPr/>
          <p:nvPr/>
        </p:nvSpPr>
        <p:spPr>
          <a:xfrm>
            <a:off x="914400" y="2057400"/>
            <a:ext cx="10241280" cy="1737360"/>
          </a:xfrm>
          <a:prstGeom prst="rect">
            <a:avLst/>
          </a:prstGeom>
          <a:noFill/>
          <a:ln/>
        </p:spPr>
        <p:txBody>
          <a:bodyPr wrap="square" lIns="0" tIns="0" rIns="0" bIns="0" rtlCol="0" anchor="ctr"/>
          <a:lstStyle/>
          <a:p>
            <a:pPr indent="0" marL="0">
              <a:lnSpc>
                <a:spcPct val="104000"/>
              </a:lnSpc>
              <a:buNone/>
            </a:pPr>
            <a:r>
              <a:rPr lang="en-US" sz="4200" b="1" dirty="0">
                <a:solidFill>
                  <a:srgbClr val="1C2B33"/>
                </a:solidFill>
                <a:latin typeface="Cambria" pitchFamily="34" charset="0"/>
                <a:ea typeface="Cambria" pitchFamily="34" charset="-122"/>
                <a:cs typeface="Cambria" pitchFamily="34" charset="-120"/>
              </a:rPr>
              <a:t>A high-level programming language</a:t>
            </a:r>
            <a:endParaRPr lang="en-US" sz="4200" dirty="0"/>
          </a:p>
          <a:p>
            <a:pPr indent="0" marL="0">
              <a:lnSpc>
                <a:spcPct val="104000"/>
              </a:lnSpc>
              <a:buNone/>
            </a:pPr>
            <a:r>
              <a:rPr lang="en-US" sz="4200" b="1" dirty="0">
                <a:solidFill>
                  <a:srgbClr val="1C2B33"/>
                </a:solidFill>
                <a:latin typeface="Cambria" pitchFamily="34" charset="0"/>
                <a:ea typeface="Cambria" pitchFamily="34" charset="-122"/>
                <a:cs typeface="Cambria" pitchFamily="34" charset="-120"/>
              </a:rPr>
              <a:t>for generative biology</a:t>
            </a:r>
            <a:endParaRPr lang="en-US" sz="4200" dirty="0"/>
          </a:p>
        </p:txBody>
      </p:sp>
      <p:sp>
        <p:nvSpPr>
          <p:cNvPr id="5" name="Text 3"/>
          <p:cNvSpPr/>
          <p:nvPr/>
        </p:nvSpPr>
        <p:spPr>
          <a:xfrm>
            <a:off x="914400" y="3977640"/>
            <a:ext cx="10058400" cy="365760"/>
          </a:xfrm>
          <a:prstGeom prst="rect">
            <a:avLst/>
          </a:prstGeom>
          <a:noFill/>
          <a:ln/>
        </p:spPr>
        <p:txBody>
          <a:bodyPr wrap="square" lIns="0" tIns="0" rIns="0" bIns="0" rtlCol="0" anchor="ctr"/>
          <a:lstStyle/>
          <a:p>
            <a:pPr indent="0" marL="0">
              <a:buNone/>
            </a:pPr>
            <a:r>
              <a:rPr lang="en-US" sz="1600" dirty="0">
                <a:solidFill>
                  <a:srgbClr val="667680"/>
                </a:solidFill>
                <a:latin typeface="Arial" pitchFamily="34" charset="0"/>
                <a:ea typeface="Arial" pitchFamily="34" charset="-122"/>
                <a:cs typeface="Arial" pitchFamily="34" charset="-120"/>
              </a:rPr>
              <a:t>Hie, Merchant, Guo, Viggiano, et al.   ·   bioRxiv 2026</a:t>
            </a:r>
            <a:endParaRPr lang="en-US" sz="1600" dirty="0"/>
          </a:p>
        </p:txBody>
      </p:sp>
      <p:sp>
        <p:nvSpPr>
          <p:cNvPr id="6" name="Text 4"/>
          <p:cNvSpPr/>
          <p:nvPr/>
        </p:nvSpPr>
        <p:spPr>
          <a:xfrm>
            <a:off x="914400" y="4370832"/>
            <a:ext cx="10058400" cy="365760"/>
          </a:xfrm>
          <a:prstGeom prst="rect">
            <a:avLst/>
          </a:prstGeom>
          <a:noFill/>
          <a:ln/>
        </p:spPr>
        <p:txBody>
          <a:bodyPr wrap="square" lIns="0" tIns="0" rIns="0" bIns="0" rtlCol="0" anchor="ctr"/>
          <a:lstStyle/>
          <a:p>
            <a:pPr indent="0" marL="0">
              <a:buNone/>
            </a:pPr>
            <a:r>
              <a:rPr lang="en-US" sz="1300" dirty="0">
                <a:solidFill>
                  <a:srgbClr val="9AA8AD"/>
                </a:solidFill>
                <a:latin typeface="Arial" pitchFamily="34" charset="0"/>
                <a:ea typeface="Arial" pitchFamily="34" charset="-122"/>
                <a:cs typeface="Arial" pitchFamily="34" charset="-120"/>
              </a:rPr>
              <a:t>Laboratory of Evolutionary Design   ·   Arc Institute / Stanford</a:t>
            </a:r>
            <a:endParaRPr lang="en-US" sz="1300" dirty="0"/>
          </a:p>
        </p:txBody>
      </p:sp>
      <p:sp>
        <p:nvSpPr>
          <p:cNvPr id="7" name="Text 5"/>
          <p:cNvSpPr/>
          <p:nvPr/>
        </p:nvSpPr>
        <p:spPr>
          <a:xfrm>
            <a:off x="914400" y="5989320"/>
            <a:ext cx="7315200" cy="320040"/>
          </a:xfrm>
          <a:prstGeom prst="rect">
            <a:avLst/>
          </a:prstGeom>
          <a:noFill/>
          <a:ln/>
        </p:spPr>
        <p:txBody>
          <a:bodyPr wrap="square" lIns="0" tIns="0" rIns="0" bIns="0" rtlCol="0" anchor="ctr"/>
          <a:lstStyle/>
          <a:p>
            <a:pPr indent="0" marL="0">
              <a:buNone/>
            </a:pPr>
            <a:r>
              <a:rPr lang="en-US" sz="1300" dirty="0">
                <a:solidFill>
                  <a:srgbClr val="667680"/>
                </a:solidFill>
                <a:latin typeface="Arial" pitchFamily="34" charset="0"/>
                <a:ea typeface="Arial" pitchFamily="34" charset="-122"/>
                <a:cs typeface="Arial" pitchFamily="34" charset="-120"/>
              </a:rPr>
              <a:t>Aayush Gandhi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768096"/>
            <a:ext cx="128016" cy="128016"/>
          </a:xfrm>
          <a:prstGeom prst="rect">
            <a:avLst/>
          </a:prstGeom>
          <a:solidFill>
            <a:srgbClr val="0E8C7F"/>
          </a:solidFill>
          <a:ln/>
        </p:spPr>
      </p:sp>
      <p:sp>
        <p:nvSpPr>
          <p:cNvPr id="3" name="Text 1"/>
          <p:cNvSpPr/>
          <p:nvPr/>
        </p:nvSpPr>
        <p:spPr>
          <a:xfrm>
            <a:off x="1152144" y="731520"/>
            <a:ext cx="7315200" cy="292608"/>
          </a:xfrm>
          <a:prstGeom prst="rect">
            <a:avLst/>
          </a:prstGeom>
          <a:noFill/>
          <a:ln/>
        </p:spPr>
        <p:txBody>
          <a:bodyPr wrap="square" lIns="0" tIns="0" rIns="0" bIns="0" rtlCol="0" anchor="ctr"/>
          <a:lstStyle/>
          <a:p>
            <a:pPr indent="0" marL="0">
              <a:buNone/>
            </a:pPr>
            <a:r>
              <a:rPr lang="en-US" sz="1200" b="1" spc="300" kern="0" dirty="0">
                <a:solidFill>
                  <a:srgbClr val="0E8C7F"/>
                </a:solidFill>
                <a:latin typeface="Arial" pitchFamily="34" charset="0"/>
                <a:ea typeface="Arial" pitchFamily="34" charset="-122"/>
                <a:cs typeface="Arial" pitchFamily="34" charset="-120"/>
              </a:rPr>
              <a:t>THE PAPER</a:t>
            </a:r>
            <a:endParaRPr lang="en-US" sz="1200" dirty="0"/>
          </a:p>
        </p:txBody>
      </p:sp>
      <p:sp>
        <p:nvSpPr>
          <p:cNvPr id="4" name="Text 2"/>
          <p:cNvSpPr/>
          <p:nvPr/>
        </p:nvSpPr>
        <p:spPr>
          <a:xfrm>
            <a:off x="914400" y="1097280"/>
            <a:ext cx="10332720" cy="822960"/>
          </a:xfrm>
          <a:prstGeom prst="rect">
            <a:avLst/>
          </a:prstGeom>
          <a:noFill/>
          <a:ln/>
        </p:spPr>
        <p:txBody>
          <a:bodyPr wrap="square" lIns="0" tIns="0" rIns="0" bIns="0" rtlCol="0" anchor="ctr"/>
          <a:lstStyle/>
          <a:p>
            <a:pPr indent="0" marL="0">
              <a:buNone/>
            </a:pPr>
            <a:r>
              <a:rPr lang="en-US" sz="3300" b="1" dirty="0">
                <a:solidFill>
                  <a:srgbClr val="1C2B33"/>
                </a:solidFill>
                <a:latin typeface="Cambria" pitchFamily="34" charset="0"/>
                <a:ea typeface="Cambria" pitchFamily="34" charset="-122"/>
                <a:cs typeface="Cambria" pitchFamily="34" charset="-120"/>
              </a:rPr>
              <a:t>What the authors did</a:t>
            </a:r>
            <a:endParaRPr lang="en-US" sz="3300" dirty="0"/>
          </a:p>
        </p:txBody>
      </p:sp>
      <p:sp>
        <p:nvSpPr>
          <p:cNvPr id="5" name="Text 3"/>
          <p:cNvSpPr/>
          <p:nvPr/>
        </p:nvSpPr>
        <p:spPr>
          <a:xfrm>
            <a:off x="914400" y="1965960"/>
            <a:ext cx="10332720" cy="1097280"/>
          </a:xfrm>
          <a:prstGeom prst="rect">
            <a:avLst/>
          </a:prstGeom>
          <a:noFill/>
          <a:ln/>
        </p:spPr>
        <p:txBody>
          <a:bodyPr wrap="square" lIns="0" tIns="0" rIns="0" bIns="0" rtlCol="0" anchor="ctr"/>
          <a:lstStyle/>
          <a:p>
            <a:pPr indent="0" marL="0">
              <a:lnSpc>
                <a:spcPct val="125000"/>
              </a:lnSpc>
              <a:buNone/>
            </a:pPr>
            <a:r>
              <a:rPr lang="en-US" sz="1650" dirty="0">
                <a:solidFill>
                  <a:srgbClr val="667680"/>
                </a:solidFill>
                <a:latin typeface="Arial" pitchFamily="34" charset="0"/>
                <a:ea typeface="Arial" pitchFamily="34" charset="-122"/>
                <a:cs typeface="Arial" pitchFamily="34" charset="-120"/>
              </a:rPr>
              <a:t>Proto unifies many separate, incompatible AI design tools into one composable program. From four simple building blocks, it can optimize several biological objectives at once, across DNA, RNA, proteins, and ligands.</a:t>
            </a:r>
            <a:endParaRPr lang="en-US" sz="1650" dirty="0"/>
          </a:p>
        </p:txBody>
      </p:sp>
      <p:sp>
        <p:nvSpPr>
          <p:cNvPr id="6" name="Text 4"/>
          <p:cNvSpPr/>
          <p:nvPr/>
        </p:nvSpPr>
        <p:spPr>
          <a:xfrm>
            <a:off x="914400" y="3429000"/>
            <a:ext cx="2606040" cy="548640"/>
          </a:xfrm>
          <a:prstGeom prst="rect">
            <a:avLst/>
          </a:prstGeom>
          <a:noFill/>
          <a:ln/>
        </p:spPr>
        <p:txBody>
          <a:bodyPr wrap="square" lIns="0" tIns="0" rIns="0" bIns="0" rtlCol="0" anchor="ctr"/>
          <a:lstStyle/>
          <a:p>
            <a:pPr indent="0" marL="0">
              <a:buNone/>
            </a:pPr>
            <a:r>
              <a:rPr lang="en-US" sz="3000" b="1" dirty="0">
                <a:solidFill>
                  <a:srgbClr val="0E8C7F"/>
                </a:solidFill>
                <a:latin typeface="Cambria" pitchFamily="34" charset="0"/>
                <a:ea typeface="Cambria" pitchFamily="34" charset="-122"/>
                <a:cs typeface="Cambria" pitchFamily="34" charset="-120"/>
              </a:rPr>
              <a:t>1</a:t>
            </a:r>
            <a:endParaRPr lang="en-US" sz="3000" dirty="0"/>
          </a:p>
        </p:txBody>
      </p:sp>
      <p:sp>
        <p:nvSpPr>
          <p:cNvPr id="7" name="Text 5"/>
          <p:cNvSpPr/>
          <p:nvPr/>
        </p:nvSpPr>
        <p:spPr>
          <a:xfrm>
            <a:off x="914400" y="4041648"/>
            <a:ext cx="2606040" cy="365760"/>
          </a:xfrm>
          <a:prstGeom prst="rect">
            <a:avLst/>
          </a:prstGeom>
          <a:noFill/>
          <a:ln/>
        </p:spPr>
        <p:txBody>
          <a:bodyPr wrap="square" lIns="0" tIns="0" rIns="0" bIns="0" rtlCol="0" anchor="ctr"/>
          <a:lstStyle/>
          <a:p>
            <a:pPr indent="0" marL="0">
              <a:buNone/>
            </a:pPr>
            <a:r>
              <a:rPr lang="en-US" sz="1600" b="1" dirty="0">
                <a:solidFill>
                  <a:srgbClr val="1C2B33"/>
                </a:solidFill>
                <a:latin typeface="Arial" pitchFamily="34" charset="0"/>
                <a:ea typeface="Arial" pitchFamily="34" charset="-122"/>
                <a:cs typeface="Arial" pitchFamily="34" charset="-120"/>
              </a:rPr>
              <a:t>Sequences</a:t>
            </a:r>
            <a:endParaRPr lang="en-US" sz="1600" dirty="0"/>
          </a:p>
        </p:txBody>
      </p:sp>
      <p:sp>
        <p:nvSpPr>
          <p:cNvPr id="8" name="Text 6"/>
          <p:cNvSpPr/>
          <p:nvPr/>
        </p:nvSpPr>
        <p:spPr>
          <a:xfrm>
            <a:off x="914400" y="4407408"/>
            <a:ext cx="2468880" cy="822960"/>
          </a:xfrm>
          <a:prstGeom prst="rect">
            <a:avLst/>
          </a:prstGeom>
          <a:noFill/>
          <a:ln/>
        </p:spPr>
        <p:txBody>
          <a:bodyPr wrap="square" lIns="0" tIns="0" rIns="0" bIns="0" rtlCol="0" anchor="ctr"/>
          <a:lstStyle/>
          <a:p>
            <a:pPr indent="0" marL="0">
              <a:lnSpc>
                <a:spcPct val="115000"/>
              </a:lnSpc>
              <a:buNone/>
            </a:pPr>
            <a:r>
              <a:rPr lang="en-US" sz="1300" dirty="0">
                <a:solidFill>
                  <a:srgbClr val="667680"/>
                </a:solidFill>
                <a:latin typeface="Arial" pitchFamily="34" charset="0"/>
                <a:ea typeface="Arial" pitchFamily="34" charset="-122"/>
                <a:cs typeface="Arial" pitchFamily="34" charset="-120"/>
              </a:rPr>
              <a:t>the molecule being designed</a:t>
            </a:r>
            <a:endParaRPr lang="en-US" sz="1300" dirty="0"/>
          </a:p>
        </p:txBody>
      </p:sp>
      <p:sp>
        <p:nvSpPr>
          <p:cNvPr id="9" name="Text 7"/>
          <p:cNvSpPr/>
          <p:nvPr/>
        </p:nvSpPr>
        <p:spPr>
          <a:xfrm>
            <a:off x="3703320" y="3429000"/>
            <a:ext cx="2606040" cy="548640"/>
          </a:xfrm>
          <a:prstGeom prst="rect">
            <a:avLst/>
          </a:prstGeom>
          <a:noFill/>
          <a:ln/>
        </p:spPr>
        <p:txBody>
          <a:bodyPr wrap="square" lIns="0" tIns="0" rIns="0" bIns="0" rtlCol="0" anchor="ctr"/>
          <a:lstStyle/>
          <a:p>
            <a:pPr indent="0" marL="0">
              <a:buNone/>
            </a:pPr>
            <a:r>
              <a:rPr lang="en-US" sz="3000" b="1" dirty="0">
                <a:solidFill>
                  <a:srgbClr val="0E8C7F"/>
                </a:solidFill>
                <a:latin typeface="Cambria" pitchFamily="34" charset="0"/>
                <a:ea typeface="Cambria" pitchFamily="34" charset="-122"/>
                <a:cs typeface="Cambria" pitchFamily="34" charset="-120"/>
              </a:rPr>
              <a:t>2</a:t>
            </a:r>
            <a:endParaRPr lang="en-US" sz="3000" dirty="0"/>
          </a:p>
        </p:txBody>
      </p:sp>
      <p:sp>
        <p:nvSpPr>
          <p:cNvPr id="10" name="Text 8"/>
          <p:cNvSpPr/>
          <p:nvPr/>
        </p:nvSpPr>
        <p:spPr>
          <a:xfrm>
            <a:off x="3703320" y="4041648"/>
            <a:ext cx="2606040" cy="365760"/>
          </a:xfrm>
          <a:prstGeom prst="rect">
            <a:avLst/>
          </a:prstGeom>
          <a:noFill/>
          <a:ln/>
        </p:spPr>
        <p:txBody>
          <a:bodyPr wrap="square" lIns="0" tIns="0" rIns="0" bIns="0" rtlCol="0" anchor="ctr"/>
          <a:lstStyle/>
          <a:p>
            <a:pPr indent="0" marL="0">
              <a:buNone/>
            </a:pPr>
            <a:r>
              <a:rPr lang="en-US" sz="1600" b="1" dirty="0">
                <a:solidFill>
                  <a:srgbClr val="1C2B33"/>
                </a:solidFill>
                <a:latin typeface="Arial" pitchFamily="34" charset="0"/>
                <a:ea typeface="Arial" pitchFamily="34" charset="-122"/>
                <a:cs typeface="Arial" pitchFamily="34" charset="-120"/>
              </a:rPr>
              <a:t>Generators</a:t>
            </a:r>
            <a:endParaRPr lang="en-US" sz="1600" dirty="0"/>
          </a:p>
        </p:txBody>
      </p:sp>
      <p:sp>
        <p:nvSpPr>
          <p:cNvPr id="11" name="Text 9"/>
          <p:cNvSpPr/>
          <p:nvPr/>
        </p:nvSpPr>
        <p:spPr>
          <a:xfrm>
            <a:off x="3703320" y="4407408"/>
            <a:ext cx="2468880" cy="822960"/>
          </a:xfrm>
          <a:prstGeom prst="rect">
            <a:avLst/>
          </a:prstGeom>
          <a:noFill/>
          <a:ln/>
        </p:spPr>
        <p:txBody>
          <a:bodyPr wrap="square" lIns="0" tIns="0" rIns="0" bIns="0" rtlCol="0" anchor="ctr"/>
          <a:lstStyle/>
          <a:p>
            <a:pPr indent="0" marL="0">
              <a:lnSpc>
                <a:spcPct val="115000"/>
              </a:lnSpc>
              <a:buNone/>
            </a:pPr>
            <a:r>
              <a:rPr lang="en-US" sz="1300" dirty="0">
                <a:solidFill>
                  <a:srgbClr val="667680"/>
                </a:solidFill>
                <a:latin typeface="Arial" pitchFamily="34" charset="0"/>
                <a:ea typeface="Arial" pitchFamily="34" charset="-122"/>
                <a:cs typeface="Arial" pitchFamily="34" charset="-120"/>
              </a:rPr>
              <a:t>models that propose candidates</a:t>
            </a:r>
            <a:endParaRPr lang="en-US" sz="1300" dirty="0"/>
          </a:p>
        </p:txBody>
      </p:sp>
      <p:sp>
        <p:nvSpPr>
          <p:cNvPr id="12" name="Text 10"/>
          <p:cNvSpPr/>
          <p:nvPr/>
        </p:nvSpPr>
        <p:spPr>
          <a:xfrm>
            <a:off x="6492240" y="3429000"/>
            <a:ext cx="2606040" cy="548640"/>
          </a:xfrm>
          <a:prstGeom prst="rect">
            <a:avLst/>
          </a:prstGeom>
          <a:noFill/>
          <a:ln/>
        </p:spPr>
        <p:txBody>
          <a:bodyPr wrap="square" lIns="0" tIns="0" rIns="0" bIns="0" rtlCol="0" anchor="ctr"/>
          <a:lstStyle/>
          <a:p>
            <a:pPr indent="0" marL="0">
              <a:buNone/>
            </a:pPr>
            <a:r>
              <a:rPr lang="en-US" sz="3000" b="1" dirty="0">
                <a:solidFill>
                  <a:srgbClr val="0E8C7F"/>
                </a:solidFill>
                <a:latin typeface="Cambria" pitchFamily="34" charset="0"/>
                <a:ea typeface="Cambria" pitchFamily="34" charset="-122"/>
                <a:cs typeface="Cambria" pitchFamily="34" charset="-120"/>
              </a:rPr>
              <a:t>3</a:t>
            </a:r>
            <a:endParaRPr lang="en-US" sz="3000" dirty="0"/>
          </a:p>
        </p:txBody>
      </p:sp>
      <p:sp>
        <p:nvSpPr>
          <p:cNvPr id="13" name="Text 11"/>
          <p:cNvSpPr/>
          <p:nvPr/>
        </p:nvSpPr>
        <p:spPr>
          <a:xfrm>
            <a:off x="6492240" y="4041648"/>
            <a:ext cx="2606040" cy="365760"/>
          </a:xfrm>
          <a:prstGeom prst="rect">
            <a:avLst/>
          </a:prstGeom>
          <a:noFill/>
          <a:ln/>
        </p:spPr>
        <p:txBody>
          <a:bodyPr wrap="square" lIns="0" tIns="0" rIns="0" bIns="0" rtlCol="0" anchor="ctr"/>
          <a:lstStyle/>
          <a:p>
            <a:pPr indent="0" marL="0">
              <a:buNone/>
            </a:pPr>
            <a:r>
              <a:rPr lang="en-US" sz="1600" b="1" dirty="0">
                <a:solidFill>
                  <a:srgbClr val="1C2B33"/>
                </a:solidFill>
                <a:latin typeface="Arial" pitchFamily="34" charset="0"/>
                <a:ea typeface="Arial" pitchFamily="34" charset="-122"/>
                <a:cs typeface="Arial" pitchFamily="34" charset="-120"/>
              </a:rPr>
              <a:t>Constraints</a:t>
            </a:r>
            <a:endParaRPr lang="en-US" sz="1600" dirty="0"/>
          </a:p>
        </p:txBody>
      </p:sp>
      <p:sp>
        <p:nvSpPr>
          <p:cNvPr id="14" name="Text 12"/>
          <p:cNvSpPr/>
          <p:nvPr/>
        </p:nvSpPr>
        <p:spPr>
          <a:xfrm>
            <a:off x="6492240" y="4407408"/>
            <a:ext cx="2468880" cy="822960"/>
          </a:xfrm>
          <a:prstGeom prst="rect">
            <a:avLst/>
          </a:prstGeom>
          <a:noFill/>
          <a:ln/>
        </p:spPr>
        <p:txBody>
          <a:bodyPr wrap="square" lIns="0" tIns="0" rIns="0" bIns="0" rtlCol="0" anchor="ctr"/>
          <a:lstStyle/>
          <a:p>
            <a:pPr indent="0" marL="0">
              <a:lnSpc>
                <a:spcPct val="115000"/>
              </a:lnSpc>
              <a:buNone/>
            </a:pPr>
            <a:r>
              <a:rPr lang="en-US" sz="1300" dirty="0">
                <a:solidFill>
                  <a:srgbClr val="667680"/>
                </a:solidFill>
                <a:latin typeface="Arial" pitchFamily="34" charset="0"/>
                <a:ea typeface="Arial" pitchFamily="34" charset="-122"/>
                <a:cs typeface="Arial" pitchFamily="34" charset="-120"/>
              </a:rPr>
              <a:t>scores that judge candidates</a:t>
            </a:r>
            <a:endParaRPr lang="en-US" sz="1300" dirty="0"/>
          </a:p>
        </p:txBody>
      </p:sp>
      <p:sp>
        <p:nvSpPr>
          <p:cNvPr id="15" name="Text 13"/>
          <p:cNvSpPr/>
          <p:nvPr/>
        </p:nvSpPr>
        <p:spPr>
          <a:xfrm>
            <a:off x="9281160" y="3429000"/>
            <a:ext cx="2606040" cy="548640"/>
          </a:xfrm>
          <a:prstGeom prst="rect">
            <a:avLst/>
          </a:prstGeom>
          <a:noFill/>
          <a:ln/>
        </p:spPr>
        <p:txBody>
          <a:bodyPr wrap="square" lIns="0" tIns="0" rIns="0" bIns="0" rtlCol="0" anchor="ctr"/>
          <a:lstStyle/>
          <a:p>
            <a:pPr indent="0" marL="0">
              <a:buNone/>
            </a:pPr>
            <a:r>
              <a:rPr lang="en-US" sz="3000" b="1" dirty="0">
                <a:solidFill>
                  <a:srgbClr val="0E8C7F"/>
                </a:solidFill>
                <a:latin typeface="Cambria" pitchFamily="34" charset="0"/>
                <a:ea typeface="Cambria" pitchFamily="34" charset="-122"/>
                <a:cs typeface="Cambria" pitchFamily="34" charset="-120"/>
              </a:rPr>
              <a:t>4</a:t>
            </a:r>
            <a:endParaRPr lang="en-US" sz="3000" dirty="0"/>
          </a:p>
        </p:txBody>
      </p:sp>
      <p:sp>
        <p:nvSpPr>
          <p:cNvPr id="16" name="Text 14"/>
          <p:cNvSpPr/>
          <p:nvPr/>
        </p:nvSpPr>
        <p:spPr>
          <a:xfrm>
            <a:off x="9281160" y="4041648"/>
            <a:ext cx="2606040" cy="365760"/>
          </a:xfrm>
          <a:prstGeom prst="rect">
            <a:avLst/>
          </a:prstGeom>
          <a:noFill/>
          <a:ln/>
        </p:spPr>
        <p:txBody>
          <a:bodyPr wrap="square" lIns="0" tIns="0" rIns="0" bIns="0" rtlCol="0" anchor="ctr"/>
          <a:lstStyle/>
          <a:p>
            <a:pPr indent="0" marL="0">
              <a:buNone/>
            </a:pPr>
            <a:r>
              <a:rPr lang="en-US" sz="1600" b="1" dirty="0">
                <a:solidFill>
                  <a:srgbClr val="1C2B33"/>
                </a:solidFill>
                <a:latin typeface="Arial" pitchFamily="34" charset="0"/>
                <a:ea typeface="Arial" pitchFamily="34" charset="-122"/>
                <a:cs typeface="Arial" pitchFamily="34" charset="-120"/>
              </a:rPr>
              <a:t>Optimizers</a:t>
            </a:r>
            <a:endParaRPr lang="en-US" sz="1600" dirty="0"/>
          </a:p>
        </p:txBody>
      </p:sp>
      <p:sp>
        <p:nvSpPr>
          <p:cNvPr id="17" name="Text 15"/>
          <p:cNvSpPr/>
          <p:nvPr/>
        </p:nvSpPr>
        <p:spPr>
          <a:xfrm>
            <a:off x="9281160" y="4407408"/>
            <a:ext cx="2468880" cy="822960"/>
          </a:xfrm>
          <a:prstGeom prst="rect">
            <a:avLst/>
          </a:prstGeom>
          <a:noFill/>
          <a:ln/>
        </p:spPr>
        <p:txBody>
          <a:bodyPr wrap="square" lIns="0" tIns="0" rIns="0" bIns="0" rtlCol="0" anchor="ctr"/>
          <a:lstStyle/>
          <a:p>
            <a:pPr indent="0" marL="0">
              <a:lnSpc>
                <a:spcPct val="115000"/>
              </a:lnSpc>
              <a:buNone/>
            </a:pPr>
            <a:r>
              <a:rPr lang="en-US" sz="1300" dirty="0">
                <a:solidFill>
                  <a:srgbClr val="667680"/>
                </a:solidFill>
                <a:latin typeface="Arial" pitchFamily="34" charset="0"/>
                <a:ea typeface="Arial" pitchFamily="34" charset="-122"/>
                <a:cs typeface="Arial" pitchFamily="34" charset="-120"/>
              </a:rPr>
              <a:t>search that improves each round</a:t>
            </a:r>
            <a:endParaRPr lang="en-US" sz="1300" dirty="0"/>
          </a:p>
        </p:txBody>
      </p:sp>
      <p:sp>
        <p:nvSpPr>
          <p:cNvPr id="18" name="Text 16"/>
          <p:cNvSpPr/>
          <p:nvPr/>
        </p:nvSpPr>
        <p:spPr>
          <a:xfrm>
            <a:off x="914400" y="5897880"/>
            <a:ext cx="10332720" cy="365760"/>
          </a:xfrm>
          <a:prstGeom prst="rect">
            <a:avLst/>
          </a:prstGeom>
          <a:noFill/>
          <a:ln/>
        </p:spPr>
        <p:txBody>
          <a:bodyPr wrap="square" lIns="0" tIns="0" rIns="0" bIns="0" rtlCol="0" anchor="ctr"/>
          <a:lstStyle/>
          <a:p>
            <a:pPr indent="0" marL="0">
              <a:buNone/>
            </a:pPr>
            <a:r>
              <a:rPr lang="en-US" sz="1300" i="1" dirty="0">
                <a:solidFill>
                  <a:srgbClr val="9AA8AD"/>
                </a:solidFill>
                <a:latin typeface="Arial" pitchFamily="34" charset="0"/>
                <a:ea typeface="Arial" pitchFamily="34" charset="-122"/>
                <a:cs typeface="Arial" pitchFamily="34" charset="-120"/>
              </a:rPr>
              <a:t>Demonstrated on synthetic protein–DNA pairs and on cell-type-specific RNA splicing.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768096"/>
            <a:ext cx="128016" cy="128016"/>
          </a:xfrm>
          <a:prstGeom prst="rect">
            <a:avLst/>
          </a:prstGeom>
          <a:solidFill>
            <a:srgbClr val="0E8C7F"/>
          </a:solidFill>
          <a:ln/>
        </p:spPr>
      </p:sp>
      <p:sp>
        <p:nvSpPr>
          <p:cNvPr id="3" name="Text 1"/>
          <p:cNvSpPr/>
          <p:nvPr/>
        </p:nvSpPr>
        <p:spPr>
          <a:xfrm>
            <a:off x="1152144" y="731520"/>
            <a:ext cx="7315200" cy="292608"/>
          </a:xfrm>
          <a:prstGeom prst="rect">
            <a:avLst/>
          </a:prstGeom>
          <a:noFill/>
          <a:ln/>
        </p:spPr>
        <p:txBody>
          <a:bodyPr wrap="square" lIns="0" tIns="0" rIns="0" bIns="0" rtlCol="0" anchor="ctr"/>
          <a:lstStyle/>
          <a:p>
            <a:pPr indent="0" marL="0">
              <a:buNone/>
            </a:pPr>
            <a:r>
              <a:rPr lang="en-US" sz="1200" b="1" spc="300" kern="0" dirty="0">
                <a:solidFill>
                  <a:srgbClr val="0E8C7F"/>
                </a:solidFill>
                <a:latin typeface="Arial" pitchFamily="34" charset="0"/>
                <a:ea typeface="Arial" pitchFamily="34" charset="-122"/>
                <a:cs typeface="Arial" pitchFamily="34" charset="-120"/>
              </a:rPr>
              <a:t>OUR WORK</a:t>
            </a:r>
            <a:endParaRPr lang="en-US" sz="1200" dirty="0"/>
          </a:p>
        </p:txBody>
      </p:sp>
      <p:sp>
        <p:nvSpPr>
          <p:cNvPr id="4" name="Text 2"/>
          <p:cNvSpPr/>
          <p:nvPr/>
        </p:nvSpPr>
        <p:spPr>
          <a:xfrm>
            <a:off x="914400" y="1097280"/>
            <a:ext cx="10332720" cy="822960"/>
          </a:xfrm>
          <a:prstGeom prst="rect">
            <a:avLst/>
          </a:prstGeom>
          <a:noFill/>
          <a:ln/>
        </p:spPr>
        <p:txBody>
          <a:bodyPr wrap="square" lIns="0" tIns="0" rIns="0" bIns="0" rtlCol="0" anchor="ctr"/>
          <a:lstStyle/>
          <a:p>
            <a:pPr indent="0" marL="0">
              <a:buNone/>
            </a:pPr>
            <a:r>
              <a:rPr lang="en-US" sz="3300" b="1" dirty="0">
                <a:solidFill>
                  <a:srgbClr val="1C2B33"/>
                </a:solidFill>
                <a:latin typeface="Cambria" pitchFamily="34" charset="0"/>
                <a:ea typeface="Cambria" pitchFamily="34" charset="-122"/>
                <a:cs typeface="Cambria" pitchFamily="34" charset="-120"/>
              </a:rPr>
              <a:t>What we are exploring</a:t>
            </a:r>
            <a:endParaRPr lang="en-US" sz="3300" dirty="0"/>
          </a:p>
        </p:txBody>
      </p:sp>
      <p:sp>
        <p:nvSpPr>
          <p:cNvPr id="5" name="Text 3"/>
          <p:cNvSpPr/>
          <p:nvPr/>
        </p:nvSpPr>
        <p:spPr>
          <a:xfrm>
            <a:off x="914400" y="1920240"/>
            <a:ext cx="10058400" cy="822960"/>
          </a:xfrm>
          <a:prstGeom prst="rect">
            <a:avLst/>
          </a:prstGeom>
          <a:noFill/>
          <a:ln/>
        </p:spPr>
        <p:txBody>
          <a:bodyPr wrap="square" lIns="0" tIns="0" rIns="0" bIns="0" rtlCol="0" anchor="ctr"/>
          <a:lstStyle/>
          <a:p>
            <a:pPr indent="0" marL="0">
              <a:lnSpc>
                <a:spcPct val="115000"/>
              </a:lnSpc>
              <a:buNone/>
            </a:pPr>
            <a:r>
              <a:rPr lang="en-US" sz="2000" dirty="0">
                <a:solidFill>
                  <a:srgbClr val="1C2B33"/>
                </a:solidFill>
                <a:latin typeface="Cambria" pitchFamily="34" charset="0"/>
                <a:ea typeface="Cambria" pitchFamily="34" charset="-122"/>
                <a:cs typeface="Cambria" pitchFamily="34" charset="-120"/>
              </a:rPr>
              <a:t>Can small, realistic edits fool AI biosecurity filters — and does fooling the filter actually mean a real-world threat?</a:t>
            </a:r>
            <a:endParaRPr lang="en-US" sz="2000" dirty="0"/>
          </a:p>
        </p:txBody>
      </p:sp>
      <p:sp>
        <p:nvSpPr>
          <p:cNvPr id="6" name="Text 4"/>
          <p:cNvSpPr/>
          <p:nvPr/>
        </p:nvSpPr>
        <p:spPr>
          <a:xfrm>
            <a:off x="914400" y="3063240"/>
            <a:ext cx="4937760" cy="365760"/>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Bioplausibility</a:t>
            </a:r>
            <a:endParaRPr lang="en-US" sz="1800" dirty="0"/>
          </a:p>
        </p:txBody>
      </p:sp>
      <p:sp>
        <p:nvSpPr>
          <p:cNvPr id="7" name="Text 5"/>
          <p:cNvSpPr/>
          <p:nvPr/>
        </p:nvSpPr>
        <p:spPr>
          <a:xfrm>
            <a:off x="914400" y="3456432"/>
            <a:ext cx="4937760" cy="640080"/>
          </a:xfrm>
          <a:prstGeom prst="rect">
            <a:avLst/>
          </a:prstGeom>
          <a:noFill/>
          <a:ln/>
        </p:spPr>
        <p:txBody>
          <a:bodyPr wrap="square" lIns="0" tIns="0" rIns="0" bIns="0" rtlCol="0" anchor="ctr"/>
          <a:lstStyle/>
          <a:p>
            <a:pPr indent="0" marL="0">
              <a:lnSpc>
                <a:spcPct val="115000"/>
              </a:lnSpc>
              <a:buNone/>
            </a:pPr>
            <a:r>
              <a:rPr lang="en-US" sz="1450" dirty="0">
                <a:solidFill>
                  <a:srgbClr val="667680"/>
                </a:solidFill>
                <a:latin typeface="Arial" pitchFamily="34" charset="0"/>
                <a:ea typeface="Arial" pitchFamily="34" charset="-122"/>
                <a:cs typeface="Arial" pitchFamily="34" charset="-120"/>
              </a:rPr>
              <a:t>Does the edit look like a natural mutation?</a:t>
            </a:r>
            <a:endParaRPr lang="en-US" sz="1450" dirty="0"/>
          </a:p>
        </p:txBody>
      </p:sp>
      <p:sp>
        <p:nvSpPr>
          <p:cNvPr id="8" name="Text 6"/>
          <p:cNvSpPr/>
          <p:nvPr/>
        </p:nvSpPr>
        <p:spPr>
          <a:xfrm>
            <a:off x="6309360" y="3063240"/>
            <a:ext cx="4937760" cy="365760"/>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Functional viability</a:t>
            </a:r>
            <a:endParaRPr lang="en-US" sz="1800" dirty="0"/>
          </a:p>
        </p:txBody>
      </p:sp>
      <p:sp>
        <p:nvSpPr>
          <p:cNvPr id="9" name="Text 7"/>
          <p:cNvSpPr/>
          <p:nvPr/>
        </p:nvSpPr>
        <p:spPr>
          <a:xfrm>
            <a:off x="6309360" y="3456432"/>
            <a:ext cx="4937760" cy="640080"/>
          </a:xfrm>
          <a:prstGeom prst="rect">
            <a:avLst/>
          </a:prstGeom>
          <a:noFill/>
          <a:ln/>
        </p:spPr>
        <p:txBody>
          <a:bodyPr wrap="square" lIns="0" tIns="0" rIns="0" bIns="0" rtlCol="0" anchor="ctr"/>
          <a:lstStyle/>
          <a:p>
            <a:pPr indent="0" marL="0">
              <a:lnSpc>
                <a:spcPct val="115000"/>
              </a:lnSpc>
              <a:buNone/>
            </a:pPr>
            <a:r>
              <a:rPr lang="en-US" sz="1450" dirty="0">
                <a:solidFill>
                  <a:srgbClr val="667680"/>
                </a:solidFill>
                <a:latin typeface="Arial" pitchFamily="34" charset="0"/>
                <a:ea typeface="Arial" pitchFamily="34" charset="-122"/>
                <a:cs typeface="Arial" pitchFamily="34" charset="-120"/>
              </a:rPr>
              <a:t>Will the edited gene still produce a working protein?</a:t>
            </a:r>
            <a:endParaRPr lang="en-US" sz="1450" dirty="0"/>
          </a:p>
        </p:txBody>
      </p:sp>
      <p:sp>
        <p:nvSpPr>
          <p:cNvPr id="10" name="Text 8"/>
          <p:cNvSpPr/>
          <p:nvPr/>
        </p:nvSpPr>
        <p:spPr>
          <a:xfrm>
            <a:off x="914400" y="4343400"/>
            <a:ext cx="7315200" cy="320040"/>
          </a:xfrm>
          <a:prstGeom prst="rect">
            <a:avLst/>
          </a:prstGeom>
          <a:noFill/>
          <a:ln/>
        </p:spPr>
        <p:txBody>
          <a:bodyPr wrap="square" lIns="0" tIns="0" rIns="0" bIns="0" rtlCol="0" anchor="ctr"/>
          <a:lstStyle/>
          <a:p>
            <a:pPr indent="0" marL="0">
              <a:buNone/>
            </a:pPr>
            <a:r>
              <a:rPr lang="en-US" sz="1200" b="1" spc="200" kern="0" dirty="0">
                <a:solidFill>
                  <a:srgbClr val="667680"/>
                </a:solidFill>
                <a:latin typeface="Arial" pitchFamily="34" charset="0"/>
                <a:ea typeface="Arial" pitchFamily="34" charset="-122"/>
                <a:cs typeface="Arial" pitchFamily="34" charset="-120"/>
              </a:rPr>
              <a:t>GUIDING QUESTIONS</a:t>
            </a:r>
            <a:endParaRPr lang="en-US" sz="1200" dirty="0"/>
          </a:p>
        </p:txBody>
      </p:sp>
      <p:sp>
        <p:nvSpPr>
          <p:cNvPr id="11" name="Text 9"/>
          <p:cNvSpPr/>
          <p:nvPr/>
        </p:nvSpPr>
        <p:spPr>
          <a:xfrm>
            <a:off x="914400" y="4754880"/>
            <a:ext cx="10332720" cy="384048"/>
          </a:xfrm>
          <a:prstGeom prst="rect">
            <a:avLst/>
          </a:prstGeom>
          <a:noFill/>
          <a:ln/>
        </p:spPr>
        <p:txBody>
          <a:bodyPr wrap="square" lIns="0" tIns="0" rIns="0" bIns="0" rtlCol="0" anchor="ctr"/>
          <a:lstStyle/>
          <a:p>
            <a:pPr indent="0" marL="0">
              <a:buNone/>
            </a:pPr>
            <a:r>
              <a:rPr lang="en-US" sz="1500" b="1" dirty="0">
                <a:solidFill>
                  <a:srgbClr val="0E8C7F"/>
                </a:solidFill>
                <a:latin typeface="Arial" pitchFamily="34" charset="0"/>
                <a:ea typeface="Arial" pitchFamily="34" charset="-122"/>
                <a:cs typeface="Arial" pitchFamily="34" charset="-120"/>
              </a:rPr>
              <a:t>RQ1   </a:t>
            </a:r>
            <a:pPr indent="0" marL="0">
              <a:buNone/>
            </a:pPr>
            <a:r>
              <a:rPr lang="en-US" sz="1500" dirty="0">
                <a:solidFill>
                  <a:srgbClr val="1C2B33"/>
                </a:solidFill>
                <a:latin typeface="Arial" pitchFamily="34" charset="0"/>
                <a:ea typeface="Arial" pitchFamily="34" charset="-122"/>
                <a:cs typeface="Arial" pitchFamily="34" charset="-120"/>
              </a:rPr>
              <a:t>How often do realistic, constrained edits evade detection?</a:t>
            </a:r>
            <a:endParaRPr lang="en-US" sz="1500" dirty="0"/>
          </a:p>
        </p:txBody>
      </p:sp>
      <p:sp>
        <p:nvSpPr>
          <p:cNvPr id="12" name="Text 10"/>
          <p:cNvSpPr/>
          <p:nvPr/>
        </p:nvSpPr>
        <p:spPr>
          <a:xfrm>
            <a:off x="914400" y="5212080"/>
            <a:ext cx="10332720" cy="384048"/>
          </a:xfrm>
          <a:prstGeom prst="rect">
            <a:avLst/>
          </a:prstGeom>
          <a:noFill/>
          <a:ln/>
        </p:spPr>
        <p:txBody>
          <a:bodyPr wrap="square" lIns="0" tIns="0" rIns="0" bIns="0" rtlCol="0" anchor="ctr"/>
          <a:lstStyle/>
          <a:p>
            <a:pPr indent="0" marL="0">
              <a:buNone/>
            </a:pPr>
            <a:r>
              <a:rPr lang="en-US" sz="1500" b="1" dirty="0">
                <a:solidFill>
                  <a:srgbClr val="0E8C7F"/>
                </a:solidFill>
                <a:latin typeface="Arial" pitchFamily="34" charset="0"/>
                <a:ea typeface="Arial" pitchFamily="34" charset="-122"/>
                <a:cs typeface="Arial" pitchFamily="34" charset="-120"/>
              </a:rPr>
              <a:t>RQ2   </a:t>
            </a:r>
            <a:pPr indent="0" marL="0">
              <a:buNone/>
            </a:pPr>
            <a:r>
              <a:rPr lang="en-US" sz="1500" dirty="0">
                <a:solidFill>
                  <a:srgbClr val="1C2B33"/>
                </a:solidFill>
                <a:latin typeface="Arial" pitchFamily="34" charset="0"/>
                <a:ea typeface="Arial" pitchFamily="34" charset="-122"/>
                <a:cs typeface="Arial" pitchFamily="34" charset="-120"/>
              </a:rPr>
              <a:t>Which biological constraints most limit an attacker's success?</a:t>
            </a:r>
            <a:endParaRPr lang="en-US" sz="1500" dirty="0"/>
          </a:p>
        </p:txBody>
      </p:sp>
      <p:sp>
        <p:nvSpPr>
          <p:cNvPr id="13" name="Text 11"/>
          <p:cNvSpPr/>
          <p:nvPr/>
        </p:nvSpPr>
        <p:spPr>
          <a:xfrm>
            <a:off x="914400" y="5669280"/>
            <a:ext cx="10332720" cy="384048"/>
          </a:xfrm>
          <a:prstGeom prst="rect">
            <a:avLst/>
          </a:prstGeom>
          <a:noFill/>
          <a:ln/>
        </p:spPr>
        <p:txBody>
          <a:bodyPr wrap="square" lIns="0" tIns="0" rIns="0" bIns="0" rtlCol="0" anchor="ctr"/>
          <a:lstStyle/>
          <a:p>
            <a:pPr indent="0" marL="0">
              <a:buNone/>
            </a:pPr>
            <a:r>
              <a:rPr lang="en-US" sz="1500" b="1" dirty="0">
                <a:solidFill>
                  <a:srgbClr val="0E8C7F"/>
                </a:solidFill>
                <a:latin typeface="Arial" pitchFamily="34" charset="0"/>
                <a:ea typeface="Arial" pitchFamily="34" charset="-122"/>
                <a:cs typeface="Arial" pitchFamily="34" charset="-120"/>
              </a:rPr>
              <a:t>RQ3   </a:t>
            </a:r>
            <a:pPr indent="0" marL="0">
              <a:buNone/>
            </a:pPr>
            <a:r>
              <a:rPr lang="en-US" sz="1500" dirty="0">
                <a:solidFill>
                  <a:srgbClr val="1C2B33"/>
                </a:solidFill>
                <a:latin typeface="Arial" pitchFamily="34" charset="0"/>
                <a:ea typeface="Arial" pitchFamily="34" charset="-122"/>
                <a:cs typeface="Arial" pitchFamily="34" charset="-120"/>
              </a:rPr>
              <a:t>Do different model sizes and architectures fail in different ways?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768096"/>
            <a:ext cx="128016" cy="128016"/>
          </a:xfrm>
          <a:prstGeom prst="rect">
            <a:avLst/>
          </a:prstGeom>
          <a:solidFill>
            <a:srgbClr val="0E8C7F"/>
          </a:solidFill>
          <a:ln/>
        </p:spPr>
      </p:sp>
      <p:sp>
        <p:nvSpPr>
          <p:cNvPr id="3" name="Text 1"/>
          <p:cNvSpPr/>
          <p:nvPr/>
        </p:nvSpPr>
        <p:spPr>
          <a:xfrm>
            <a:off x="1152144" y="731520"/>
            <a:ext cx="7315200" cy="292608"/>
          </a:xfrm>
          <a:prstGeom prst="rect">
            <a:avLst/>
          </a:prstGeom>
          <a:noFill/>
          <a:ln/>
        </p:spPr>
        <p:txBody>
          <a:bodyPr wrap="square" lIns="0" tIns="0" rIns="0" bIns="0" rtlCol="0" anchor="ctr"/>
          <a:lstStyle/>
          <a:p>
            <a:pPr indent="0" marL="0">
              <a:buNone/>
            </a:pPr>
            <a:r>
              <a:rPr lang="en-US" sz="1200" b="1" spc="300" kern="0" dirty="0">
                <a:solidFill>
                  <a:srgbClr val="0E8C7F"/>
                </a:solidFill>
                <a:latin typeface="Arial" pitchFamily="34" charset="0"/>
                <a:ea typeface="Arial" pitchFamily="34" charset="-122"/>
                <a:cs typeface="Arial" pitchFamily="34" charset="-120"/>
              </a:rPr>
              <a:t>OUR METHOD</a:t>
            </a:r>
            <a:endParaRPr lang="en-US" sz="1200" dirty="0"/>
          </a:p>
        </p:txBody>
      </p:sp>
      <p:sp>
        <p:nvSpPr>
          <p:cNvPr id="4" name="Text 2"/>
          <p:cNvSpPr/>
          <p:nvPr/>
        </p:nvSpPr>
        <p:spPr>
          <a:xfrm>
            <a:off x="914400" y="1097280"/>
            <a:ext cx="10332720" cy="822960"/>
          </a:xfrm>
          <a:prstGeom prst="rect">
            <a:avLst/>
          </a:prstGeom>
          <a:noFill/>
          <a:ln/>
        </p:spPr>
        <p:txBody>
          <a:bodyPr wrap="square" lIns="0" tIns="0" rIns="0" bIns="0" rtlCol="0" anchor="ctr"/>
          <a:lstStyle/>
          <a:p>
            <a:pPr indent="0" marL="0">
              <a:buNone/>
            </a:pPr>
            <a:r>
              <a:rPr lang="en-US" sz="3300" b="1" dirty="0">
                <a:solidFill>
                  <a:srgbClr val="1C2B33"/>
                </a:solidFill>
                <a:latin typeface="Cambria" pitchFamily="34" charset="0"/>
                <a:ea typeface="Cambria" pitchFamily="34" charset="-122"/>
                <a:cs typeface="Cambria" pitchFamily="34" charset="-120"/>
              </a:rPr>
              <a:t>How we built and validated the metric</a:t>
            </a:r>
            <a:endParaRPr lang="en-US" sz="3300" dirty="0"/>
          </a:p>
        </p:txBody>
      </p:sp>
      <p:sp>
        <p:nvSpPr>
          <p:cNvPr id="5" name="Text 3"/>
          <p:cNvSpPr/>
          <p:nvPr/>
        </p:nvSpPr>
        <p:spPr>
          <a:xfrm>
            <a:off x="914400" y="1874520"/>
            <a:ext cx="10332720" cy="365760"/>
          </a:xfrm>
          <a:prstGeom prst="rect">
            <a:avLst/>
          </a:prstGeom>
          <a:noFill/>
          <a:ln/>
        </p:spPr>
        <p:txBody>
          <a:bodyPr wrap="square" lIns="0" tIns="0" rIns="0" bIns="0" rtlCol="0" anchor="ctr"/>
          <a:lstStyle/>
          <a:p>
            <a:pPr indent="0" marL="0">
              <a:buNone/>
            </a:pPr>
            <a:r>
              <a:rPr lang="en-US" sz="1600" dirty="0">
                <a:solidFill>
                  <a:srgbClr val="667680"/>
                </a:solidFill>
                <a:latin typeface="Arial" pitchFamily="34" charset="0"/>
                <a:ea typeface="Arial" pitchFamily="34" charset="-122"/>
                <a:cs typeface="Arial" pitchFamily="34" charset="-120"/>
              </a:rPr>
              <a:t>From a design choice to out-of-sample validation on real laboratory data.</a:t>
            </a:r>
            <a:endParaRPr lang="en-US" sz="1600" dirty="0"/>
          </a:p>
        </p:txBody>
      </p:sp>
      <p:sp>
        <p:nvSpPr>
          <p:cNvPr id="6" name="Text 4"/>
          <p:cNvSpPr/>
          <p:nvPr/>
        </p:nvSpPr>
        <p:spPr>
          <a:xfrm>
            <a:off x="914400" y="2468880"/>
            <a:ext cx="2606040" cy="411480"/>
          </a:xfrm>
          <a:prstGeom prst="rect">
            <a:avLst/>
          </a:prstGeom>
          <a:noFill/>
          <a:ln/>
        </p:spPr>
        <p:txBody>
          <a:bodyPr wrap="square" lIns="0" tIns="0" rIns="0" bIns="0" rtlCol="0" anchor="ctr"/>
          <a:lstStyle/>
          <a:p>
            <a:pPr indent="0" marL="0">
              <a:buNone/>
            </a:pPr>
            <a:r>
              <a:rPr lang="en-US" sz="1800" b="1" dirty="0">
                <a:solidFill>
                  <a:srgbClr val="0E8C7F"/>
                </a:solidFill>
                <a:latin typeface="Cambria" pitchFamily="34" charset="0"/>
                <a:ea typeface="Cambria" pitchFamily="34" charset="-122"/>
                <a:cs typeface="Cambria" pitchFamily="34" charset="-120"/>
              </a:rPr>
              <a:t>1  Develop</a:t>
            </a:r>
            <a:endParaRPr lang="en-US" sz="1800" dirty="0"/>
          </a:p>
        </p:txBody>
      </p:sp>
      <p:sp>
        <p:nvSpPr>
          <p:cNvPr id="7" name="Text 5"/>
          <p:cNvSpPr/>
          <p:nvPr/>
        </p:nvSpPr>
        <p:spPr>
          <a:xfrm>
            <a:off x="914400" y="2926080"/>
            <a:ext cx="2542032" cy="1554480"/>
          </a:xfrm>
          <a:prstGeom prst="rect">
            <a:avLst/>
          </a:prstGeom>
          <a:noFill/>
          <a:ln/>
        </p:spPr>
        <p:txBody>
          <a:bodyPr wrap="square" lIns="0" tIns="0" rIns="0" bIns="0" rtlCol="0" anchor="ctr"/>
          <a:lstStyle/>
          <a:p>
            <a:pPr indent="0" marL="0">
              <a:lnSpc>
                <a:spcPct val="118000"/>
              </a:lnSpc>
              <a:buNone/>
            </a:pPr>
            <a:r>
              <a:rPr lang="en-US" sz="1250" dirty="0">
                <a:solidFill>
                  <a:srgbClr val="1C2B33"/>
                </a:solidFill>
                <a:latin typeface="Arial" pitchFamily="34" charset="0"/>
                <a:ea typeface="Arial" pitchFamily="34" charset="-122"/>
                <a:cs typeface="Arial" pitchFamily="34" charset="-120"/>
              </a:rPr>
              <a:t>A multiplicative score: a protein works only if it is produced AND folds AND keeps its active site — so any single failure zeroes it.</a:t>
            </a:r>
            <a:endParaRPr lang="en-US" sz="1250" dirty="0"/>
          </a:p>
        </p:txBody>
      </p:sp>
      <p:sp>
        <p:nvSpPr>
          <p:cNvPr id="8" name="Text 6"/>
          <p:cNvSpPr/>
          <p:nvPr/>
        </p:nvSpPr>
        <p:spPr>
          <a:xfrm>
            <a:off x="3703320" y="2468880"/>
            <a:ext cx="2606040" cy="411480"/>
          </a:xfrm>
          <a:prstGeom prst="rect">
            <a:avLst/>
          </a:prstGeom>
          <a:noFill/>
          <a:ln/>
        </p:spPr>
        <p:txBody>
          <a:bodyPr wrap="square" lIns="0" tIns="0" rIns="0" bIns="0" rtlCol="0" anchor="ctr"/>
          <a:lstStyle/>
          <a:p>
            <a:pPr indent="0" marL="0">
              <a:buNone/>
            </a:pPr>
            <a:r>
              <a:rPr lang="en-US" sz="1800" b="1" dirty="0">
                <a:solidFill>
                  <a:srgbClr val="0E8C7F"/>
                </a:solidFill>
                <a:latin typeface="Cambria" pitchFamily="34" charset="0"/>
                <a:ea typeface="Cambria" pitchFamily="34" charset="-122"/>
                <a:cs typeface="Cambria" pitchFamily="34" charset="-120"/>
              </a:rPr>
              <a:t>2  Test</a:t>
            </a:r>
            <a:endParaRPr lang="en-US" sz="1800" dirty="0"/>
          </a:p>
        </p:txBody>
      </p:sp>
      <p:sp>
        <p:nvSpPr>
          <p:cNvPr id="9" name="Text 7"/>
          <p:cNvSpPr/>
          <p:nvPr/>
        </p:nvSpPr>
        <p:spPr>
          <a:xfrm>
            <a:off x="3703320" y="2926080"/>
            <a:ext cx="2542032" cy="1554480"/>
          </a:xfrm>
          <a:prstGeom prst="rect">
            <a:avLst/>
          </a:prstGeom>
          <a:noFill/>
          <a:ln/>
        </p:spPr>
        <p:txBody>
          <a:bodyPr wrap="square" lIns="0" tIns="0" rIns="0" bIns="0" rtlCol="0" anchor="ctr"/>
          <a:lstStyle/>
          <a:p>
            <a:pPr indent="0" marL="0">
              <a:lnSpc>
                <a:spcPct val="118000"/>
              </a:lnSpc>
              <a:buNone/>
            </a:pPr>
            <a:r>
              <a:rPr lang="en-US" sz="1250" dirty="0">
                <a:solidFill>
                  <a:srgbClr val="1C2B33"/>
                </a:solidFill>
                <a:latin typeface="Arial" pitchFamily="34" charset="0"/>
                <a:ea typeface="Arial" pitchFamily="34" charset="-122"/>
                <a:cs typeface="Arial" pitchFamily="34" charset="-120"/>
              </a:rPr>
              <a:t>Score thousands of real variants drawn from public deep-mutational-scanning data (ProteinGym).</a:t>
            </a:r>
            <a:endParaRPr lang="en-US" sz="1250" dirty="0"/>
          </a:p>
        </p:txBody>
      </p:sp>
      <p:sp>
        <p:nvSpPr>
          <p:cNvPr id="10" name="Text 8"/>
          <p:cNvSpPr/>
          <p:nvPr/>
        </p:nvSpPr>
        <p:spPr>
          <a:xfrm>
            <a:off x="6492240" y="2468880"/>
            <a:ext cx="2606040" cy="411480"/>
          </a:xfrm>
          <a:prstGeom prst="rect">
            <a:avLst/>
          </a:prstGeom>
          <a:noFill/>
          <a:ln/>
        </p:spPr>
        <p:txBody>
          <a:bodyPr wrap="square" lIns="0" tIns="0" rIns="0" bIns="0" rtlCol="0" anchor="ctr"/>
          <a:lstStyle/>
          <a:p>
            <a:pPr indent="0" marL="0">
              <a:buNone/>
            </a:pPr>
            <a:r>
              <a:rPr lang="en-US" sz="1800" b="1" dirty="0">
                <a:solidFill>
                  <a:srgbClr val="0E8C7F"/>
                </a:solidFill>
                <a:latin typeface="Cambria" pitchFamily="34" charset="0"/>
                <a:ea typeface="Cambria" pitchFamily="34" charset="-122"/>
                <a:cs typeface="Cambria" pitchFamily="34" charset="-120"/>
              </a:rPr>
              <a:t>3  Evaluate</a:t>
            </a:r>
            <a:endParaRPr lang="en-US" sz="1800" dirty="0"/>
          </a:p>
        </p:txBody>
      </p:sp>
      <p:sp>
        <p:nvSpPr>
          <p:cNvPr id="11" name="Text 9"/>
          <p:cNvSpPr/>
          <p:nvPr/>
        </p:nvSpPr>
        <p:spPr>
          <a:xfrm>
            <a:off x="6492240" y="2926080"/>
            <a:ext cx="2542032" cy="1554480"/>
          </a:xfrm>
          <a:prstGeom prst="rect">
            <a:avLst/>
          </a:prstGeom>
          <a:noFill/>
          <a:ln/>
        </p:spPr>
        <p:txBody>
          <a:bodyPr wrap="square" lIns="0" tIns="0" rIns="0" bIns="0" rtlCol="0" anchor="ctr"/>
          <a:lstStyle/>
          <a:p>
            <a:pPr indent="0" marL="0">
              <a:lnSpc>
                <a:spcPct val="118000"/>
              </a:lnSpc>
              <a:buNone/>
            </a:pPr>
            <a:r>
              <a:rPr lang="en-US" sz="1250" dirty="0">
                <a:solidFill>
                  <a:srgbClr val="1C2B33"/>
                </a:solidFill>
                <a:latin typeface="Arial" pitchFamily="34" charset="0"/>
                <a:ea typeface="Arial" pitchFamily="34" charset="-122"/>
                <a:cs typeface="Arial" pitchFamily="34" charset="-120"/>
              </a:rPr>
              <a:t>Across real toxins, a virus, and an enzyme; measured by AUC against true lab-measured function.</a:t>
            </a:r>
            <a:endParaRPr lang="en-US" sz="1250" dirty="0"/>
          </a:p>
        </p:txBody>
      </p:sp>
      <p:sp>
        <p:nvSpPr>
          <p:cNvPr id="12" name="Text 10"/>
          <p:cNvSpPr/>
          <p:nvPr/>
        </p:nvSpPr>
        <p:spPr>
          <a:xfrm>
            <a:off x="9281160" y="2468880"/>
            <a:ext cx="2606040" cy="411480"/>
          </a:xfrm>
          <a:prstGeom prst="rect">
            <a:avLst/>
          </a:prstGeom>
          <a:noFill/>
          <a:ln/>
        </p:spPr>
        <p:txBody>
          <a:bodyPr wrap="square" lIns="0" tIns="0" rIns="0" bIns="0" rtlCol="0" anchor="ctr"/>
          <a:lstStyle/>
          <a:p>
            <a:pPr indent="0" marL="0">
              <a:buNone/>
            </a:pPr>
            <a:r>
              <a:rPr lang="en-US" sz="1800" b="1" dirty="0">
                <a:solidFill>
                  <a:srgbClr val="0E8C7F"/>
                </a:solidFill>
                <a:latin typeface="Cambria" pitchFamily="34" charset="0"/>
                <a:ea typeface="Cambria" pitchFamily="34" charset="-122"/>
                <a:cs typeface="Cambria" pitchFamily="34" charset="-120"/>
              </a:rPr>
              <a:t>4  Result</a:t>
            </a:r>
            <a:endParaRPr lang="en-US" sz="1800" dirty="0"/>
          </a:p>
        </p:txBody>
      </p:sp>
      <p:sp>
        <p:nvSpPr>
          <p:cNvPr id="13" name="Text 11"/>
          <p:cNvSpPr/>
          <p:nvPr/>
        </p:nvSpPr>
        <p:spPr>
          <a:xfrm>
            <a:off x="9281160" y="2926080"/>
            <a:ext cx="2542032" cy="1554480"/>
          </a:xfrm>
          <a:prstGeom prst="rect">
            <a:avLst/>
          </a:prstGeom>
          <a:noFill/>
          <a:ln/>
        </p:spPr>
        <p:txBody>
          <a:bodyPr wrap="square" lIns="0" tIns="0" rIns="0" bIns="0" rtlCol="0" anchor="ctr"/>
          <a:lstStyle/>
          <a:p>
            <a:pPr indent="0" marL="0">
              <a:lnSpc>
                <a:spcPct val="118000"/>
              </a:lnSpc>
              <a:buNone/>
            </a:pPr>
            <a:r>
              <a:rPr lang="en-US" sz="1250" dirty="0">
                <a:solidFill>
                  <a:srgbClr val="1C2B33"/>
                </a:solidFill>
                <a:latin typeface="Arial" pitchFamily="34" charset="0"/>
                <a:ea typeface="Arial" pitchFamily="34" charset="-122"/>
                <a:cs typeface="Arial" pitchFamily="34" charset="-120"/>
              </a:rPr>
              <a:t>0.73 mean / 0.61 worst-case AUC across all six datasets — and it beats the protein language model alone.</a:t>
            </a:r>
            <a:endParaRPr lang="en-US" sz="1250" dirty="0"/>
          </a:p>
        </p:txBody>
      </p:sp>
      <p:sp>
        <p:nvSpPr>
          <p:cNvPr id="14" name="Shape 12"/>
          <p:cNvSpPr/>
          <p:nvPr/>
        </p:nvSpPr>
        <p:spPr>
          <a:xfrm>
            <a:off x="914400" y="4709160"/>
            <a:ext cx="10360152" cy="1600200"/>
          </a:xfrm>
          <a:prstGeom prst="rect">
            <a:avLst/>
          </a:prstGeom>
          <a:solidFill>
            <a:srgbClr val="F3F6F6"/>
          </a:solidFill>
          <a:ln/>
        </p:spPr>
      </p:sp>
      <p:sp>
        <p:nvSpPr>
          <p:cNvPr id="15" name="Text 13"/>
          <p:cNvSpPr/>
          <p:nvPr/>
        </p:nvSpPr>
        <p:spPr>
          <a:xfrm>
            <a:off x="1188720" y="4864608"/>
            <a:ext cx="9784080" cy="1325880"/>
          </a:xfrm>
          <a:prstGeom prst="rect">
            <a:avLst/>
          </a:prstGeom>
          <a:noFill/>
          <a:ln/>
        </p:spPr>
        <p:txBody>
          <a:bodyPr wrap="square" lIns="0" tIns="0" rIns="0" bIns="0" rtlCol="0" anchor="ctr"/>
          <a:lstStyle/>
          <a:p>
            <a:pPr indent="0" marL="0">
              <a:lnSpc>
                <a:spcPct val="122000"/>
              </a:lnSpc>
              <a:buNone/>
            </a:pPr>
            <a:r>
              <a:rPr lang="en-US" sz="1350" b="1" dirty="0">
                <a:solidFill>
                  <a:srgbClr val="0E8C7F"/>
                </a:solidFill>
                <a:latin typeface="Arial" pitchFamily="34" charset="0"/>
                <a:ea typeface="Arial" pitchFamily="34" charset="-122"/>
                <a:cs typeface="Arial" pitchFamily="34" charset="-120"/>
              </a:rPr>
              <a:t>Why it is robust enough to use here.  </a:t>
            </a:r>
            <a:pPr indent="0" marL="0">
              <a:lnSpc>
                <a:spcPct val="122000"/>
              </a:lnSpc>
              <a:buNone/>
            </a:pPr>
            <a:r>
              <a:rPr lang="en-US" sz="1350" dirty="0">
                <a:solidFill>
                  <a:srgbClr val="1C2B33"/>
                </a:solidFill>
                <a:latin typeface="Arial" pitchFamily="34" charset="0"/>
                <a:ea typeface="Arial" pitchFamily="34" charset="-122"/>
                <a:cs typeface="Arial" pitchFamily="34" charset="-120"/>
              </a:rPr>
              <a:t>It combines complementary signals and automatically down-weights any that are unreliable or irrelevant for a given molecule, ensembles across model scales, and is learned out-of-sample (cross-validated). It leads every single ingredient on both the average and the worst case, so it holds up across toxin, virus, and enzyme alike. Plain plausibility alone scored ~0.49 (useless) — the structural, multiplicative design is what carries the signal.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768096"/>
            <a:ext cx="128016" cy="128016"/>
          </a:xfrm>
          <a:prstGeom prst="rect">
            <a:avLst/>
          </a:prstGeom>
          <a:solidFill>
            <a:srgbClr val="0E8C7F"/>
          </a:solidFill>
          <a:ln/>
        </p:spPr>
      </p:sp>
      <p:sp>
        <p:nvSpPr>
          <p:cNvPr id="3" name="Text 1"/>
          <p:cNvSpPr/>
          <p:nvPr/>
        </p:nvSpPr>
        <p:spPr>
          <a:xfrm>
            <a:off x="1152144" y="731520"/>
            <a:ext cx="7315200" cy="292608"/>
          </a:xfrm>
          <a:prstGeom prst="rect">
            <a:avLst/>
          </a:prstGeom>
          <a:noFill/>
          <a:ln/>
        </p:spPr>
        <p:txBody>
          <a:bodyPr wrap="square" lIns="0" tIns="0" rIns="0" bIns="0" rtlCol="0" anchor="ctr"/>
          <a:lstStyle/>
          <a:p>
            <a:pPr indent="0" marL="0">
              <a:buNone/>
            </a:pPr>
            <a:r>
              <a:rPr lang="en-US" sz="1200" b="1" spc="300" kern="0" dirty="0">
                <a:solidFill>
                  <a:srgbClr val="0E8C7F"/>
                </a:solidFill>
                <a:latin typeface="Arial" pitchFamily="34" charset="0"/>
                <a:ea typeface="Arial" pitchFamily="34" charset="-122"/>
                <a:cs typeface="Arial" pitchFamily="34" charset="-120"/>
              </a:rPr>
              <a:t>THE LINK</a:t>
            </a:r>
            <a:endParaRPr lang="en-US" sz="1200" dirty="0"/>
          </a:p>
        </p:txBody>
      </p:sp>
      <p:sp>
        <p:nvSpPr>
          <p:cNvPr id="4" name="Text 2"/>
          <p:cNvSpPr/>
          <p:nvPr/>
        </p:nvSpPr>
        <p:spPr>
          <a:xfrm>
            <a:off x="914400" y="1097280"/>
            <a:ext cx="10332720" cy="822960"/>
          </a:xfrm>
          <a:prstGeom prst="rect">
            <a:avLst/>
          </a:prstGeom>
          <a:noFill/>
          <a:ln/>
        </p:spPr>
        <p:txBody>
          <a:bodyPr wrap="square" lIns="0" tIns="0" rIns="0" bIns="0" rtlCol="0" anchor="ctr"/>
          <a:lstStyle/>
          <a:p>
            <a:pPr indent="0" marL="0">
              <a:buNone/>
            </a:pPr>
            <a:r>
              <a:rPr lang="en-US" sz="3300" b="1" dirty="0">
                <a:solidFill>
                  <a:srgbClr val="1C2B33"/>
                </a:solidFill>
                <a:latin typeface="Cambria" pitchFamily="34" charset="0"/>
                <a:ea typeface="Cambria" pitchFamily="34" charset="-122"/>
                <a:cs typeface="Cambria" pitchFamily="34" charset="-120"/>
              </a:rPr>
              <a:t>How the paper connects to us</a:t>
            </a:r>
            <a:endParaRPr lang="en-US" sz="3300" dirty="0"/>
          </a:p>
        </p:txBody>
      </p:sp>
      <p:sp>
        <p:nvSpPr>
          <p:cNvPr id="5" name="Text 3"/>
          <p:cNvSpPr/>
          <p:nvPr/>
        </p:nvSpPr>
        <p:spPr>
          <a:xfrm>
            <a:off x="914400" y="1920240"/>
            <a:ext cx="10332720" cy="457200"/>
          </a:xfrm>
          <a:prstGeom prst="rect">
            <a:avLst/>
          </a:prstGeom>
          <a:noFill/>
          <a:ln/>
        </p:spPr>
        <p:txBody>
          <a:bodyPr wrap="square" lIns="0" tIns="0" rIns="0" bIns="0" rtlCol="0" anchor="ctr"/>
          <a:lstStyle/>
          <a:p>
            <a:pPr indent="0" marL="0">
              <a:buNone/>
            </a:pPr>
            <a:r>
              <a:rPr lang="en-US" sz="1650" dirty="0">
                <a:solidFill>
                  <a:srgbClr val="667680"/>
                </a:solidFill>
                <a:latin typeface="Arial" pitchFamily="34" charset="0"/>
                <a:ea typeface="Arial" pitchFamily="34" charset="-122"/>
                <a:cs typeface="Arial" pitchFamily="34" charset="-120"/>
              </a:rPr>
              <a:t>Our adversarial-robustness pipeline already follows Proto's exact loop.</a:t>
            </a:r>
            <a:endParaRPr lang="en-US" sz="1650" dirty="0"/>
          </a:p>
        </p:txBody>
      </p:sp>
      <p:sp>
        <p:nvSpPr>
          <p:cNvPr id="6" name="Text 4"/>
          <p:cNvSpPr/>
          <p:nvPr/>
        </p:nvSpPr>
        <p:spPr>
          <a:xfrm>
            <a:off x="914400" y="2743200"/>
            <a:ext cx="3200400" cy="457200"/>
          </a:xfrm>
          <a:prstGeom prst="rect">
            <a:avLst/>
          </a:prstGeom>
          <a:noFill/>
          <a:ln/>
        </p:spPr>
        <p:txBody>
          <a:bodyPr wrap="square" lIns="0" tIns="0" rIns="0" bIns="0" rtlCol="0" anchor="ctr"/>
          <a:lstStyle/>
          <a:p>
            <a:pPr indent="0" marL="0">
              <a:buNone/>
            </a:pPr>
            <a:r>
              <a:rPr lang="en-US" sz="2200" b="1" dirty="0">
                <a:solidFill>
                  <a:srgbClr val="1C2B33"/>
                </a:solidFill>
                <a:latin typeface="Cambria" pitchFamily="34" charset="0"/>
                <a:ea typeface="Cambria" pitchFamily="34" charset="-122"/>
                <a:cs typeface="Cambria" pitchFamily="34" charset="-120"/>
              </a:rPr>
              <a:t>Generator</a:t>
            </a:r>
            <a:endParaRPr lang="en-US" sz="2200" dirty="0"/>
          </a:p>
        </p:txBody>
      </p:sp>
      <p:sp>
        <p:nvSpPr>
          <p:cNvPr id="7" name="Text 5"/>
          <p:cNvSpPr/>
          <p:nvPr/>
        </p:nvSpPr>
        <p:spPr>
          <a:xfrm>
            <a:off x="914400" y="3246120"/>
            <a:ext cx="3200400" cy="731520"/>
          </a:xfrm>
          <a:prstGeom prst="rect">
            <a:avLst/>
          </a:prstGeom>
          <a:noFill/>
          <a:ln/>
        </p:spPr>
        <p:txBody>
          <a:bodyPr wrap="square" lIns="0" tIns="0" rIns="0" bIns="0" rtlCol="0" anchor="ctr"/>
          <a:lstStyle/>
          <a:p>
            <a:pPr indent="0" marL="0">
              <a:lnSpc>
                <a:spcPct val="115000"/>
              </a:lnSpc>
              <a:buNone/>
            </a:pPr>
            <a:r>
              <a:rPr lang="en-US" sz="1350" dirty="0">
                <a:solidFill>
                  <a:srgbClr val="667680"/>
                </a:solidFill>
                <a:latin typeface="Arial" pitchFamily="34" charset="0"/>
                <a:ea typeface="Arial" pitchFamily="34" charset="-122"/>
                <a:cs typeface="Arial" pitchFamily="34" charset="-120"/>
              </a:rPr>
              <a:t>our mutation proposer</a:t>
            </a:r>
            <a:endParaRPr lang="en-US" sz="1350" dirty="0"/>
          </a:p>
        </p:txBody>
      </p:sp>
      <p:sp>
        <p:nvSpPr>
          <p:cNvPr id="8" name="Text 6"/>
          <p:cNvSpPr/>
          <p:nvPr/>
        </p:nvSpPr>
        <p:spPr>
          <a:xfrm>
            <a:off x="4069080" y="2743200"/>
            <a:ext cx="502920" cy="457200"/>
          </a:xfrm>
          <a:prstGeom prst="rect">
            <a:avLst/>
          </a:prstGeom>
          <a:noFill/>
          <a:ln/>
        </p:spPr>
        <p:txBody>
          <a:bodyPr wrap="square" lIns="0" tIns="0" rIns="0" bIns="0" rtlCol="0" anchor="ctr"/>
          <a:lstStyle/>
          <a:p>
            <a:pPr algn="ctr" indent="0" marL="0">
              <a:buNone/>
            </a:pPr>
            <a:r>
              <a:rPr lang="en-US" sz="2200" dirty="0">
                <a:solidFill>
                  <a:srgbClr val="9AA8AD"/>
                </a:solidFill>
                <a:latin typeface="Arial" pitchFamily="34" charset="0"/>
                <a:ea typeface="Arial" pitchFamily="34" charset="-122"/>
                <a:cs typeface="Arial" pitchFamily="34" charset="-120"/>
              </a:rPr>
              <a:t>→</a:t>
            </a:r>
            <a:endParaRPr lang="en-US" sz="2200" dirty="0"/>
          </a:p>
        </p:txBody>
      </p:sp>
      <p:sp>
        <p:nvSpPr>
          <p:cNvPr id="9" name="Text 7"/>
          <p:cNvSpPr/>
          <p:nvPr/>
        </p:nvSpPr>
        <p:spPr>
          <a:xfrm>
            <a:off x="4572000" y="2743200"/>
            <a:ext cx="3200400" cy="457200"/>
          </a:xfrm>
          <a:prstGeom prst="rect">
            <a:avLst/>
          </a:prstGeom>
          <a:noFill/>
          <a:ln/>
        </p:spPr>
        <p:txBody>
          <a:bodyPr wrap="square" lIns="0" tIns="0" rIns="0" bIns="0" rtlCol="0" anchor="ctr"/>
          <a:lstStyle/>
          <a:p>
            <a:pPr indent="0" marL="0">
              <a:buNone/>
            </a:pPr>
            <a:r>
              <a:rPr lang="en-US" sz="2200" b="1" dirty="0">
                <a:solidFill>
                  <a:srgbClr val="0E8C7F"/>
                </a:solidFill>
                <a:latin typeface="Cambria" pitchFamily="34" charset="0"/>
                <a:ea typeface="Cambria" pitchFamily="34" charset="-122"/>
                <a:cs typeface="Cambria" pitchFamily="34" charset="-120"/>
              </a:rPr>
              <a:t>Constraint</a:t>
            </a:r>
            <a:endParaRPr lang="en-US" sz="2200" dirty="0"/>
          </a:p>
        </p:txBody>
      </p:sp>
      <p:sp>
        <p:nvSpPr>
          <p:cNvPr id="10" name="Text 8"/>
          <p:cNvSpPr/>
          <p:nvPr/>
        </p:nvSpPr>
        <p:spPr>
          <a:xfrm>
            <a:off x="4572000" y="3246120"/>
            <a:ext cx="3200400" cy="731520"/>
          </a:xfrm>
          <a:prstGeom prst="rect">
            <a:avLst/>
          </a:prstGeom>
          <a:noFill/>
          <a:ln/>
        </p:spPr>
        <p:txBody>
          <a:bodyPr wrap="square" lIns="0" tIns="0" rIns="0" bIns="0" rtlCol="0" anchor="ctr"/>
          <a:lstStyle/>
          <a:p>
            <a:pPr indent="0" marL="0">
              <a:lnSpc>
                <a:spcPct val="115000"/>
              </a:lnSpc>
              <a:buNone/>
            </a:pPr>
            <a:r>
              <a:rPr lang="en-US" sz="1350" dirty="0">
                <a:solidFill>
                  <a:srgbClr val="667680"/>
                </a:solidFill>
                <a:latin typeface="Arial" pitchFamily="34" charset="0"/>
                <a:ea typeface="Arial" pitchFamily="34" charset="-122"/>
                <a:cs typeface="Arial" pitchFamily="34" charset="-120"/>
              </a:rPr>
              <a:t>our bioplausibility / functional-viability score</a:t>
            </a:r>
            <a:endParaRPr lang="en-US" sz="1350" dirty="0"/>
          </a:p>
        </p:txBody>
      </p:sp>
      <p:sp>
        <p:nvSpPr>
          <p:cNvPr id="11" name="Text 9"/>
          <p:cNvSpPr/>
          <p:nvPr/>
        </p:nvSpPr>
        <p:spPr>
          <a:xfrm>
            <a:off x="7726680" y="2743200"/>
            <a:ext cx="502920" cy="457200"/>
          </a:xfrm>
          <a:prstGeom prst="rect">
            <a:avLst/>
          </a:prstGeom>
          <a:noFill/>
          <a:ln/>
        </p:spPr>
        <p:txBody>
          <a:bodyPr wrap="square" lIns="0" tIns="0" rIns="0" bIns="0" rtlCol="0" anchor="ctr"/>
          <a:lstStyle/>
          <a:p>
            <a:pPr algn="ctr" indent="0" marL="0">
              <a:buNone/>
            </a:pPr>
            <a:r>
              <a:rPr lang="en-US" sz="2200" dirty="0">
                <a:solidFill>
                  <a:srgbClr val="9AA8AD"/>
                </a:solidFill>
                <a:latin typeface="Arial" pitchFamily="34" charset="0"/>
                <a:ea typeface="Arial" pitchFamily="34" charset="-122"/>
                <a:cs typeface="Arial" pitchFamily="34" charset="-120"/>
              </a:rPr>
              <a:t>→</a:t>
            </a:r>
            <a:endParaRPr lang="en-US" sz="2200" dirty="0"/>
          </a:p>
        </p:txBody>
      </p:sp>
      <p:sp>
        <p:nvSpPr>
          <p:cNvPr id="12" name="Text 10"/>
          <p:cNvSpPr/>
          <p:nvPr/>
        </p:nvSpPr>
        <p:spPr>
          <a:xfrm>
            <a:off x="8229600" y="2743200"/>
            <a:ext cx="3200400" cy="457200"/>
          </a:xfrm>
          <a:prstGeom prst="rect">
            <a:avLst/>
          </a:prstGeom>
          <a:noFill/>
          <a:ln/>
        </p:spPr>
        <p:txBody>
          <a:bodyPr wrap="square" lIns="0" tIns="0" rIns="0" bIns="0" rtlCol="0" anchor="ctr"/>
          <a:lstStyle/>
          <a:p>
            <a:pPr indent="0" marL="0">
              <a:buNone/>
            </a:pPr>
            <a:r>
              <a:rPr lang="en-US" sz="2200" b="1" dirty="0">
                <a:solidFill>
                  <a:srgbClr val="1C2B33"/>
                </a:solidFill>
                <a:latin typeface="Cambria" pitchFamily="34" charset="0"/>
                <a:ea typeface="Cambria" pitchFamily="34" charset="-122"/>
                <a:cs typeface="Cambria" pitchFamily="34" charset="-120"/>
              </a:rPr>
              <a:t>Optimizer</a:t>
            </a:r>
            <a:endParaRPr lang="en-US" sz="2200" dirty="0"/>
          </a:p>
        </p:txBody>
      </p:sp>
      <p:sp>
        <p:nvSpPr>
          <p:cNvPr id="13" name="Text 11"/>
          <p:cNvSpPr/>
          <p:nvPr/>
        </p:nvSpPr>
        <p:spPr>
          <a:xfrm>
            <a:off x="8229600" y="3246120"/>
            <a:ext cx="3200400" cy="731520"/>
          </a:xfrm>
          <a:prstGeom prst="rect">
            <a:avLst/>
          </a:prstGeom>
          <a:noFill/>
          <a:ln/>
        </p:spPr>
        <p:txBody>
          <a:bodyPr wrap="square" lIns="0" tIns="0" rIns="0" bIns="0" rtlCol="0" anchor="ctr"/>
          <a:lstStyle/>
          <a:p>
            <a:pPr indent="0" marL="0">
              <a:lnSpc>
                <a:spcPct val="115000"/>
              </a:lnSpc>
              <a:buNone/>
            </a:pPr>
            <a:r>
              <a:rPr lang="en-US" sz="1350" dirty="0">
                <a:solidFill>
                  <a:srgbClr val="667680"/>
                </a:solidFill>
                <a:latin typeface="Arial" pitchFamily="34" charset="0"/>
                <a:ea typeface="Arial" pitchFamily="34" charset="-122"/>
                <a:cs typeface="Arial" pitchFamily="34" charset="-120"/>
              </a:rPr>
              <a:t>our GA / MCMC search</a:t>
            </a:r>
            <a:endParaRPr lang="en-US" sz="1350" dirty="0"/>
          </a:p>
        </p:txBody>
      </p:sp>
      <p:sp>
        <p:nvSpPr>
          <p:cNvPr id="14" name="Shape 12"/>
          <p:cNvSpPr/>
          <p:nvPr/>
        </p:nvSpPr>
        <p:spPr>
          <a:xfrm>
            <a:off x="914400" y="4617720"/>
            <a:ext cx="10360152" cy="1417320"/>
          </a:xfrm>
          <a:prstGeom prst="rect">
            <a:avLst/>
          </a:prstGeom>
          <a:solidFill>
            <a:srgbClr val="F3F6F6"/>
          </a:solidFill>
          <a:ln/>
        </p:spPr>
      </p:sp>
      <p:sp>
        <p:nvSpPr>
          <p:cNvPr id="15" name="Text 13"/>
          <p:cNvSpPr/>
          <p:nvPr/>
        </p:nvSpPr>
        <p:spPr>
          <a:xfrm>
            <a:off x="1188720" y="4800600"/>
            <a:ext cx="9784080" cy="1051560"/>
          </a:xfrm>
          <a:prstGeom prst="rect">
            <a:avLst/>
          </a:prstGeom>
          <a:noFill/>
          <a:ln/>
        </p:spPr>
        <p:txBody>
          <a:bodyPr wrap="square" lIns="0" tIns="0" rIns="0" bIns="0" rtlCol="0" anchor="ctr"/>
          <a:lstStyle/>
          <a:p>
            <a:pPr indent="0" marL="0">
              <a:lnSpc>
                <a:spcPct val="122000"/>
              </a:lnSpc>
              <a:buNone/>
            </a:pPr>
            <a:r>
              <a:rPr lang="en-US" sz="1450" b="1" dirty="0">
                <a:solidFill>
                  <a:srgbClr val="0E8C7F"/>
                </a:solidFill>
                <a:latin typeface="Arial" pitchFamily="34" charset="0"/>
                <a:ea typeface="Arial" pitchFamily="34" charset="-122"/>
                <a:cs typeface="Arial" pitchFamily="34" charset="-120"/>
              </a:rPr>
              <a:t>Why it matters.  </a:t>
            </a:r>
            <a:pPr indent="0" marL="0">
              <a:lnSpc>
                <a:spcPct val="122000"/>
              </a:lnSpc>
              <a:buNone/>
            </a:pPr>
            <a:r>
              <a:rPr lang="en-US" sz="1450" dirty="0">
                <a:solidFill>
                  <a:srgbClr val="1C2B33"/>
                </a:solidFill>
                <a:latin typeface="Arial" pitchFamily="34" charset="0"/>
                <a:ea typeface="Arial" pitchFamily="34" charset="-122"/>
                <a:cs typeface="Arial" pitchFamily="34" charset="-120"/>
              </a:rPr>
              <a:t>Wittmann et al. (Science 2025) showed real DNA-synthesis screening can be evaded — and the deployed fix targets variants that still function. Functional retention is the screening criterion, which is exactly what our metric is built to score.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768096"/>
            <a:ext cx="128016" cy="128016"/>
          </a:xfrm>
          <a:prstGeom prst="rect">
            <a:avLst/>
          </a:prstGeom>
          <a:solidFill>
            <a:srgbClr val="0E8C7F"/>
          </a:solidFill>
          <a:ln/>
        </p:spPr>
      </p:sp>
      <p:sp>
        <p:nvSpPr>
          <p:cNvPr id="3" name="Text 1"/>
          <p:cNvSpPr/>
          <p:nvPr/>
        </p:nvSpPr>
        <p:spPr>
          <a:xfrm>
            <a:off x="1152144" y="731520"/>
            <a:ext cx="7315200" cy="292608"/>
          </a:xfrm>
          <a:prstGeom prst="rect">
            <a:avLst/>
          </a:prstGeom>
          <a:noFill/>
          <a:ln/>
        </p:spPr>
        <p:txBody>
          <a:bodyPr wrap="square" lIns="0" tIns="0" rIns="0" bIns="0" rtlCol="0" anchor="ctr"/>
          <a:lstStyle/>
          <a:p>
            <a:pPr indent="0" marL="0">
              <a:buNone/>
            </a:pPr>
            <a:r>
              <a:rPr lang="en-US" sz="1200" b="1" spc="300" kern="0" dirty="0">
                <a:solidFill>
                  <a:srgbClr val="0E8C7F"/>
                </a:solidFill>
                <a:latin typeface="Arial" pitchFamily="34" charset="0"/>
                <a:ea typeface="Arial" pitchFamily="34" charset="-122"/>
                <a:cs typeface="Arial" pitchFamily="34" charset="-120"/>
              </a:rPr>
              <a:t>THE PLAN</a:t>
            </a:r>
            <a:endParaRPr lang="en-US" sz="1200" dirty="0"/>
          </a:p>
        </p:txBody>
      </p:sp>
      <p:sp>
        <p:nvSpPr>
          <p:cNvPr id="4" name="Text 2"/>
          <p:cNvSpPr/>
          <p:nvPr/>
        </p:nvSpPr>
        <p:spPr>
          <a:xfrm>
            <a:off x="914400" y="1097280"/>
            <a:ext cx="10332720" cy="822960"/>
          </a:xfrm>
          <a:prstGeom prst="rect">
            <a:avLst/>
          </a:prstGeom>
          <a:noFill/>
          <a:ln/>
        </p:spPr>
        <p:txBody>
          <a:bodyPr wrap="square" lIns="0" tIns="0" rIns="0" bIns="0" rtlCol="0" anchor="ctr"/>
          <a:lstStyle/>
          <a:p>
            <a:pPr indent="0" marL="0">
              <a:buNone/>
            </a:pPr>
            <a:r>
              <a:rPr lang="en-US" sz="3300" b="1" dirty="0">
                <a:solidFill>
                  <a:srgbClr val="1C2B33"/>
                </a:solidFill>
                <a:latin typeface="Cambria" pitchFamily="34" charset="0"/>
                <a:ea typeface="Cambria" pitchFamily="34" charset="-122"/>
                <a:cs typeface="Cambria" pitchFamily="34" charset="-120"/>
              </a:rPr>
              <a:t>How we adopt it</a:t>
            </a:r>
            <a:endParaRPr lang="en-US" sz="3300" dirty="0"/>
          </a:p>
        </p:txBody>
      </p:sp>
      <p:sp>
        <p:nvSpPr>
          <p:cNvPr id="5" name="Text 3"/>
          <p:cNvSpPr/>
          <p:nvPr/>
        </p:nvSpPr>
        <p:spPr>
          <a:xfrm>
            <a:off x="914400" y="2011680"/>
            <a:ext cx="640080" cy="640080"/>
          </a:xfrm>
          <a:prstGeom prst="rect">
            <a:avLst/>
          </a:prstGeom>
          <a:noFill/>
          <a:ln/>
        </p:spPr>
        <p:txBody>
          <a:bodyPr wrap="square" lIns="0" tIns="0" rIns="0" bIns="0" rtlCol="0" anchor="ctr"/>
          <a:lstStyle/>
          <a:p>
            <a:pPr indent="0" marL="0">
              <a:buNone/>
            </a:pPr>
            <a:r>
              <a:rPr lang="en-US" sz="2800" b="1" dirty="0">
                <a:solidFill>
                  <a:srgbClr val="0E8C7F"/>
                </a:solidFill>
                <a:latin typeface="Cambria" pitchFamily="34" charset="0"/>
                <a:ea typeface="Cambria" pitchFamily="34" charset="-122"/>
                <a:cs typeface="Cambria" pitchFamily="34" charset="-120"/>
              </a:rPr>
              <a:t>1</a:t>
            </a:r>
            <a:endParaRPr lang="en-US" sz="2800" dirty="0"/>
          </a:p>
        </p:txBody>
      </p:sp>
      <p:sp>
        <p:nvSpPr>
          <p:cNvPr id="6" name="Text 4"/>
          <p:cNvSpPr/>
          <p:nvPr/>
        </p:nvSpPr>
        <p:spPr>
          <a:xfrm>
            <a:off x="1645920" y="2029968"/>
            <a:ext cx="9509760" cy="411480"/>
          </a:xfrm>
          <a:prstGeom prst="rect">
            <a:avLst/>
          </a:prstGeom>
          <a:noFill/>
          <a:ln/>
        </p:spPr>
        <p:txBody>
          <a:bodyPr wrap="square" lIns="0" tIns="0" rIns="0" bIns="0" rtlCol="0" anchor="ctr"/>
          <a:lstStyle/>
          <a:p>
            <a:pPr indent="0" marL="0">
              <a:buNone/>
            </a:pPr>
            <a:r>
              <a:rPr lang="en-US" sz="1700" b="1" dirty="0">
                <a:solidFill>
                  <a:srgbClr val="1C2B33"/>
                </a:solidFill>
                <a:latin typeface="Arial" pitchFamily="34" charset="0"/>
                <a:ea typeface="Arial" pitchFamily="34" charset="-122"/>
                <a:cs typeface="Arial" pitchFamily="34" charset="-120"/>
              </a:rPr>
              <a:t>Wrap our metric as a Proto Constraint</a:t>
            </a:r>
            <a:endParaRPr lang="en-US" sz="1700" dirty="0"/>
          </a:p>
        </p:txBody>
      </p:sp>
      <p:sp>
        <p:nvSpPr>
          <p:cNvPr id="7" name="Text 5"/>
          <p:cNvSpPr/>
          <p:nvPr/>
        </p:nvSpPr>
        <p:spPr>
          <a:xfrm>
            <a:off x="1645920" y="2450592"/>
            <a:ext cx="9509760" cy="502920"/>
          </a:xfrm>
          <a:prstGeom prst="rect">
            <a:avLst/>
          </a:prstGeom>
          <a:noFill/>
          <a:ln/>
        </p:spPr>
        <p:txBody>
          <a:bodyPr wrap="square" lIns="0" tIns="0" rIns="0" bIns="0" rtlCol="0" anchor="ctr"/>
          <a:lstStyle/>
          <a:p>
            <a:pPr indent="0" marL="0">
              <a:lnSpc>
                <a:spcPct val="115000"/>
              </a:lnSpc>
              <a:buNone/>
            </a:pPr>
            <a:r>
              <a:rPr lang="en-US" sz="1400" dirty="0">
                <a:solidFill>
                  <a:srgbClr val="667680"/>
                </a:solidFill>
                <a:latin typeface="Arial" pitchFamily="34" charset="0"/>
                <a:ea typeface="Arial" pitchFamily="34" charset="-122"/>
                <a:cs typeface="Arial" pitchFamily="34" charset="-120"/>
              </a:rPr>
              <a:t>rBPV / FVS becomes a drop-in scoring module — reusable and shareable, not a one-off script.</a:t>
            </a:r>
            <a:endParaRPr lang="en-US" sz="1400" dirty="0"/>
          </a:p>
        </p:txBody>
      </p:sp>
      <p:sp>
        <p:nvSpPr>
          <p:cNvPr id="8" name="Text 6"/>
          <p:cNvSpPr/>
          <p:nvPr/>
        </p:nvSpPr>
        <p:spPr>
          <a:xfrm>
            <a:off x="914400" y="3035808"/>
            <a:ext cx="640080" cy="640080"/>
          </a:xfrm>
          <a:prstGeom prst="rect">
            <a:avLst/>
          </a:prstGeom>
          <a:noFill/>
          <a:ln/>
        </p:spPr>
        <p:txBody>
          <a:bodyPr wrap="square" lIns="0" tIns="0" rIns="0" bIns="0" rtlCol="0" anchor="ctr"/>
          <a:lstStyle/>
          <a:p>
            <a:pPr indent="0" marL="0">
              <a:buNone/>
            </a:pPr>
            <a:r>
              <a:rPr lang="en-US" sz="2800" b="1" dirty="0">
                <a:solidFill>
                  <a:srgbClr val="0E8C7F"/>
                </a:solidFill>
                <a:latin typeface="Cambria" pitchFamily="34" charset="0"/>
                <a:ea typeface="Cambria" pitchFamily="34" charset="-122"/>
                <a:cs typeface="Cambria" pitchFamily="34" charset="-120"/>
              </a:rPr>
              <a:t>2</a:t>
            </a:r>
            <a:endParaRPr lang="en-US" sz="2800" dirty="0"/>
          </a:p>
        </p:txBody>
      </p:sp>
      <p:sp>
        <p:nvSpPr>
          <p:cNvPr id="9" name="Text 7"/>
          <p:cNvSpPr/>
          <p:nvPr/>
        </p:nvSpPr>
        <p:spPr>
          <a:xfrm>
            <a:off x="1645920" y="3054096"/>
            <a:ext cx="9509760" cy="411480"/>
          </a:xfrm>
          <a:prstGeom prst="rect">
            <a:avLst/>
          </a:prstGeom>
          <a:noFill/>
          <a:ln/>
        </p:spPr>
        <p:txBody>
          <a:bodyPr wrap="square" lIns="0" tIns="0" rIns="0" bIns="0" rtlCol="0" anchor="ctr"/>
          <a:lstStyle/>
          <a:p>
            <a:pPr indent="0" marL="0">
              <a:buNone/>
            </a:pPr>
            <a:r>
              <a:rPr lang="en-US" sz="1700" b="1" dirty="0">
                <a:solidFill>
                  <a:srgbClr val="1C2B33"/>
                </a:solidFill>
                <a:latin typeface="Arial" pitchFamily="34" charset="0"/>
                <a:ea typeface="Arial" pitchFamily="34" charset="-122"/>
                <a:cs typeface="Arial" pitchFamily="34" charset="-120"/>
              </a:rPr>
              <a:t>Run Proto's multi-objective search</a:t>
            </a:r>
            <a:endParaRPr lang="en-US" sz="1700" dirty="0"/>
          </a:p>
        </p:txBody>
      </p:sp>
      <p:sp>
        <p:nvSpPr>
          <p:cNvPr id="10" name="Text 8"/>
          <p:cNvSpPr/>
          <p:nvPr/>
        </p:nvSpPr>
        <p:spPr>
          <a:xfrm>
            <a:off x="1645920" y="3474720"/>
            <a:ext cx="9509760" cy="502920"/>
          </a:xfrm>
          <a:prstGeom prst="rect">
            <a:avLst/>
          </a:prstGeom>
          <a:noFill/>
          <a:ln/>
        </p:spPr>
        <p:txBody>
          <a:bodyPr wrap="square" lIns="0" tIns="0" rIns="0" bIns="0" rtlCol="0" anchor="ctr"/>
          <a:lstStyle/>
          <a:p>
            <a:pPr indent="0" marL="0">
              <a:lnSpc>
                <a:spcPct val="115000"/>
              </a:lnSpc>
              <a:buNone/>
            </a:pPr>
            <a:r>
              <a:rPr lang="en-US" sz="1400" dirty="0">
                <a:solidFill>
                  <a:srgbClr val="667680"/>
                </a:solidFill>
                <a:latin typeface="Arial" pitchFamily="34" charset="0"/>
                <a:ea typeface="Arial" pitchFamily="34" charset="-122"/>
                <a:cs typeface="Arial" pitchFamily="34" charset="-120"/>
              </a:rPr>
              <a:t>Surface edits that are evasive AND plausible AND still functional — the combination that is the real risk.</a:t>
            </a:r>
            <a:endParaRPr lang="en-US" sz="1400" dirty="0"/>
          </a:p>
        </p:txBody>
      </p:sp>
      <p:sp>
        <p:nvSpPr>
          <p:cNvPr id="11" name="Text 9"/>
          <p:cNvSpPr/>
          <p:nvPr/>
        </p:nvSpPr>
        <p:spPr>
          <a:xfrm>
            <a:off x="914400" y="4059936"/>
            <a:ext cx="640080" cy="640080"/>
          </a:xfrm>
          <a:prstGeom prst="rect">
            <a:avLst/>
          </a:prstGeom>
          <a:noFill/>
          <a:ln/>
        </p:spPr>
        <p:txBody>
          <a:bodyPr wrap="square" lIns="0" tIns="0" rIns="0" bIns="0" rtlCol="0" anchor="ctr"/>
          <a:lstStyle/>
          <a:p>
            <a:pPr indent="0" marL="0">
              <a:buNone/>
            </a:pPr>
            <a:r>
              <a:rPr lang="en-US" sz="2800" b="1" dirty="0">
                <a:solidFill>
                  <a:srgbClr val="0E8C7F"/>
                </a:solidFill>
                <a:latin typeface="Cambria" pitchFamily="34" charset="0"/>
                <a:ea typeface="Cambria" pitchFamily="34" charset="-122"/>
                <a:cs typeface="Cambria" pitchFamily="34" charset="-120"/>
              </a:rPr>
              <a:t>3</a:t>
            </a:r>
            <a:endParaRPr lang="en-US" sz="2800" dirty="0"/>
          </a:p>
        </p:txBody>
      </p:sp>
      <p:sp>
        <p:nvSpPr>
          <p:cNvPr id="12" name="Text 10"/>
          <p:cNvSpPr/>
          <p:nvPr/>
        </p:nvSpPr>
        <p:spPr>
          <a:xfrm>
            <a:off x="1645920" y="4078224"/>
            <a:ext cx="9509760" cy="411480"/>
          </a:xfrm>
          <a:prstGeom prst="rect">
            <a:avLst/>
          </a:prstGeom>
          <a:noFill/>
          <a:ln/>
        </p:spPr>
        <p:txBody>
          <a:bodyPr wrap="square" lIns="0" tIns="0" rIns="0" bIns="0" rtlCol="0" anchor="ctr"/>
          <a:lstStyle/>
          <a:p>
            <a:pPr indent="0" marL="0">
              <a:buNone/>
            </a:pPr>
            <a:r>
              <a:rPr lang="en-US" sz="1700" b="1" dirty="0">
                <a:solidFill>
                  <a:srgbClr val="1C2B33"/>
                </a:solidFill>
                <a:latin typeface="Arial" pitchFamily="34" charset="0"/>
                <a:ea typeface="Arial" pitchFamily="34" charset="-122"/>
                <a:cs typeface="Arial" pitchFamily="34" charset="-120"/>
              </a:rPr>
              <a:t>Use the same Constraint for attack and defense</a:t>
            </a:r>
            <a:endParaRPr lang="en-US" sz="1700" dirty="0"/>
          </a:p>
        </p:txBody>
      </p:sp>
      <p:sp>
        <p:nvSpPr>
          <p:cNvPr id="13" name="Text 11"/>
          <p:cNvSpPr/>
          <p:nvPr/>
        </p:nvSpPr>
        <p:spPr>
          <a:xfrm>
            <a:off x="1645920" y="4498848"/>
            <a:ext cx="9509760" cy="502920"/>
          </a:xfrm>
          <a:prstGeom prst="rect">
            <a:avLst/>
          </a:prstGeom>
          <a:noFill/>
          <a:ln/>
        </p:spPr>
        <p:txBody>
          <a:bodyPr wrap="square" lIns="0" tIns="0" rIns="0" bIns="0" rtlCol="0" anchor="ctr"/>
          <a:lstStyle/>
          <a:p>
            <a:pPr indent="0" marL="0">
              <a:lnSpc>
                <a:spcPct val="115000"/>
              </a:lnSpc>
              <a:buNone/>
            </a:pPr>
            <a:r>
              <a:rPr lang="en-US" sz="1400" dirty="0">
                <a:solidFill>
                  <a:srgbClr val="667680"/>
                </a:solidFill>
                <a:latin typeface="Arial" pitchFamily="34" charset="0"/>
                <a:ea typeface="Arial" pitchFamily="34" charset="-122"/>
                <a:cs typeface="Arial" pitchFamily="34" charset="-120"/>
              </a:rPr>
              <a:t>It scores red-team attacks and, equally, hardens or filters the models being screened.</a:t>
            </a:r>
            <a:endParaRPr lang="en-US" sz="1400" dirty="0"/>
          </a:p>
        </p:txBody>
      </p:sp>
      <p:sp>
        <p:nvSpPr>
          <p:cNvPr id="14" name="Shape 12"/>
          <p:cNvSpPr/>
          <p:nvPr/>
        </p:nvSpPr>
        <p:spPr>
          <a:xfrm>
            <a:off x="914400" y="5257800"/>
            <a:ext cx="10360152" cy="1325880"/>
          </a:xfrm>
          <a:prstGeom prst="rect">
            <a:avLst/>
          </a:prstGeom>
          <a:solidFill>
            <a:srgbClr val="F3F6F6"/>
          </a:solidFill>
          <a:ln/>
        </p:spPr>
      </p:sp>
      <p:sp>
        <p:nvSpPr>
          <p:cNvPr id="15" name="Text 13"/>
          <p:cNvSpPr/>
          <p:nvPr/>
        </p:nvSpPr>
        <p:spPr>
          <a:xfrm>
            <a:off x="1188720" y="5440680"/>
            <a:ext cx="9784080" cy="960120"/>
          </a:xfrm>
          <a:prstGeom prst="rect">
            <a:avLst/>
          </a:prstGeom>
          <a:noFill/>
          <a:ln/>
        </p:spPr>
        <p:txBody>
          <a:bodyPr wrap="square" lIns="0" tIns="0" rIns="0" bIns="0" rtlCol="0" anchor="ctr"/>
          <a:lstStyle/>
          <a:p>
            <a:pPr indent="0" marL="0">
              <a:lnSpc>
                <a:spcPct val="120000"/>
              </a:lnSpc>
              <a:buNone/>
            </a:pPr>
            <a:r>
              <a:rPr lang="en-US" sz="1400" b="1" dirty="0">
                <a:solidFill>
                  <a:srgbClr val="0E8C7F"/>
                </a:solidFill>
                <a:latin typeface="Arial" pitchFamily="34" charset="0"/>
                <a:ea typeface="Arial" pitchFamily="34" charset="-122"/>
                <a:cs typeface="Arial" pitchFamily="34" charset="-120"/>
              </a:rPr>
              <a:t>Where we are (preliminary).  </a:t>
            </a:r>
            <a:pPr indent="0" marL="0">
              <a:lnSpc>
                <a:spcPct val="120000"/>
              </a:lnSpc>
              <a:buNone/>
            </a:pPr>
            <a:r>
              <a:rPr lang="en-US" sz="1400" dirty="0">
                <a:solidFill>
                  <a:srgbClr val="1C2B33"/>
                </a:solidFill>
                <a:latin typeface="Arial" pitchFamily="34" charset="0"/>
                <a:ea typeface="Arial" pitchFamily="34" charset="-122"/>
                <a:cs typeface="Arial" pitchFamily="34" charset="-120"/>
              </a:rPr>
              <a:t>Our metric reaches 0.73 mean / 0.61 worst-case AUC across real toxin, virus, and enzyme data, beating the protein language model alone. The fold term currently uses an ESM proxy; RaSP ΔΔG is the planned upgrade.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 and our biosecurity evaluation</dc:title>
  <dc:subject>PptxGenJS Presentation</dc:subject>
  <dc:creator>Aayush Gandhi</dc:creator>
  <cp:lastModifiedBy>Aayush Gandhi</cp:lastModifiedBy>
  <cp:revision>1</cp:revision>
  <dcterms:created xsi:type="dcterms:W3CDTF">2026-06-29T22:33:23Z</dcterms:created>
  <dcterms:modified xsi:type="dcterms:W3CDTF">2026-06-29T22:33:23Z</dcterms:modified>
</cp:coreProperties>
</file>